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00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61520" cy="1554480"/>
          </a:xfrm>
          <a:prstGeom prst="rect">
            <a:avLst/>
          </a:prstGeom>
          <a:solidFill>
            <a:srgbClr val="185FA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85FA5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FlotaOS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DC3F0"/>
                </a:solidFill>
              </a:rPr>
              <a:t>Sistema de Gestión de Flotas — YOFC Perú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8B5"/>
                </a:solidFill>
              </a:rPr>
              <a:t>Diseño de Interfaces — App Móvil &amp; Web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185FA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31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App Driver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3931920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185FA5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931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App Técnico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06240" y="3931920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185FA5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3931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Web Supervisor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3931920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185FA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3931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Web Coordinador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680960" y="3931920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185FA5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3931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6 Módulos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8B5"/>
                </a:solidFill>
              </a:rPr>
              <a:t>Mayo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B4E"/>
                </a:solidFill>
              </a:rPr>
              <a:t>Contenido de la presentación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70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E"/>
                </a:solidFill>
              </a:rPr>
              <a:t>App Móvil — Driver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Pantalla inicio · Llegada · Parada · Reinicio · Destino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502920" cy="1051560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E"/>
                </a:solidFill>
              </a:rPr>
              <a:t>App Móvil — Técnico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715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Panel principal · Tareas de nodo · Gastos de campo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502920" cy="105156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639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E"/>
                </a:solidFill>
              </a:rPr>
              <a:t>App Móvil — Pagos de Campo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950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Combustible · Gas Gen. · Peajes · Viáticos · Consumibles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005840"/>
            <a:ext cx="502920" cy="1051560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005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1170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E"/>
                </a:solidFill>
              </a:rPr>
              <a:t>Web — Dashboard GPS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1481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Mapa en tiempo real · Geocercas · Detalle de vehículo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09360" y="224028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240280"/>
            <a:ext cx="502920" cy="1051560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2402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E"/>
                </a:solidFill>
              </a:rPr>
              <a:t>Web — Mantenimiento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2715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Dashboard gerencial · Ficha vehículo · Calendario OT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09360" y="34747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3474720"/>
            <a:ext cx="502920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474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3639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E"/>
                </a:solidFill>
              </a:rPr>
              <a:t>Web — KPIs &amp; Caja Chica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3950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Dashboard gerencial · 4 regiones · Reportes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9DC3F0"/>
                </a:solidFill>
              </a:rPr>
              <a:t>SECCIÓN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</a:rPr>
              <a:t>App Móvil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DC3F0"/>
                </a:solidFill>
              </a:rPr>
              <a:t>Driver &amp; Técnico de Campo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251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8B5"/>
                </a:solidFill>
              </a:rPr>
              <a:t>Registro de eventos · Tareas asignadas · Gastos de campo · Fuerza mayor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 · DRIVER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B4E"/>
                </a:solidFill>
              </a:rPr>
              <a:t>Pantalla de Inicio — Driver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82880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607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BA8B5"/>
                </a:solidFill>
              </a:rPr>
              <a:t>9:41  ●●●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1828800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26187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FlotaOS — Inicio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664208"/>
            <a:ext cx="1645920" cy="457200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8249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Viernes, 15 mayo 2026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29768" y="18196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E"/>
                </a:solidFill>
              </a:rPr>
              <a:t>08:47 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91640" y="1691640"/>
            <a:ext cx="329184" cy="329184"/>
          </a:xfrm>
          <a:prstGeom prst="ellipse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85FA5"/>
                </a:solidFill>
              </a:rPr>
              <a:t>JQ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234440" y="16916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4748B"/>
                </a:solidFill>
              </a:rPr>
              <a:t>Jorge Quispe</a:t>
            </a:r>
            <a:endParaRPr lang="en-US" sz="550" dirty="0"/>
          </a:p>
          <a:p>
            <a:pPr marL="0" indent="0" algn="r">
              <a:buNone/>
            </a:pPr>
            <a:r>
              <a:rPr lang="en-US" sz="550" dirty="0">
                <a:solidFill>
                  <a:srgbClr val="64748B"/>
                </a:solidFill>
              </a:rPr>
              <a:t>Conductor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411480" y="2176272"/>
            <a:ext cx="1645920" cy="201168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85FA5"/>
                </a:solidFill>
              </a:rPr>
              <a:t>Huaraz → T4191 Tarapoto · ABC-123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1746504" y="2203704"/>
            <a:ext cx="274320" cy="137160"/>
          </a:xfrm>
          <a:prstGeom prst="roundRect">
            <a:avLst>
              <a:gd name="adj" fmla="val 20000"/>
            </a:avLst>
          </a:prstGeom>
          <a:solidFill>
            <a:srgbClr val="BA7517"/>
          </a:solidFill>
          <a:ln/>
        </p:spPr>
      </p:sp>
      <p:sp>
        <p:nvSpPr>
          <p:cNvPr id="19" name="Text 17"/>
          <p:cNvSpPr/>
          <p:nvPr/>
        </p:nvSpPr>
        <p:spPr>
          <a:xfrm>
            <a:off x="1746504" y="220370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</a:rPr>
              <a:t>En ruta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411480" y="24688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</a:rPr>
              <a:t>TAREAS DEL DÍA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411480" y="2633472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" y="2670048"/>
            <a:ext cx="128016" cy="12801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267004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✓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612648" y="265176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2B4E"/>
                </a:solidFill>
              </a:rPr>
              <a:t>Checklist pre-uso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12648" y="2743200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</a:rPr>
              <a:t>Completado 07:18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411480" y="2880360"/>
            <a:ext cx="1645920" cy="201168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" y="2916936"/>
            <a:ext cx="128016" cy="12801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291693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2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612648" y="289864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85FA5"/>
                </a:solidFill>
              </a:rPr>
              <a:t>Recoger personal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12648" y="2990088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</a:rPr>
              <a:t>Caraz · 09:00 am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411480" y="3127248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" y="3163824"/>
            <a:ext cx="128016" cy="128016"/>
          </a:xfrm>
          <a:prstGeom prst="ellipse">
            <a:avLst/>
          </a:prstGeom>
          <a:solidFill>
            <a:srgbClr val="D0D8E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316382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3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612648" y="314553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2B4E"/>
                </a:solidFill>
              </a:rPr>
              <a:t>Traslado nodo T4191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12648" y="323697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</a:rPr>
              <a:t>~2h 30min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411480" y="3374136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" y="3410712"/>
            <a:ext cx="128016" cy="128016"/>
          </a:xfrm>
          <a:prstGeom prst="ellipse">
            <a:avLst/>
          </a:prstGeom>
          <a:solidFill>
            <a:srgbClr val="D0D8E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" y="341071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4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612648" y="33924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2B4E"/>
                </a:solidFill>
              </a:rPr>
              <a:t>Retorno base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12648" y="348386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</a:rPr>
              <a:t>Estimado 17:00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411480" y="36758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</a:rPr>
              <a:t>REGISTRAR EVENTO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411480" y="3840480"/>
            <a:ext cx="786384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85876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Llegada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11480" y="40050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Al sitio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1261872" y="3840480"/>
            <a:ext cx="786384" cy="329184"/>
          </a:xfrm>
          <a:prstGeom prst="rect">
            <a:avLst/>
          </a:prstGeom>
          <a:solidFill>
            <a:srgbClr val="BA7517">
              <a:alpha val="8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61872" y="385876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Parada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261872" y="40050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8E8E8"/>
                </a:solidFill>
              </a:rPr>
              <a:t>+ Fuerza Mayor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411480" y="4224528"/>
            <a:ext cx="786384" cy="329184"/>
          </a:xfrm>
          <a:prstGeom prst="rect">
            <a:avLst/>
          </a:prstGeom>
          <a:solidFill>
            <a:srgbClr val="3B6D11">
              <a:alpha val="80000"/>
            </a:srgbClr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24281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Reinicio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11480" y="4389120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8E8E8"/>
                </a:solidFill>
              </a:rPr>
              <a:t>Hacia destino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1261872" y="4224528"/>
            <a:ext cx="786384" cy="329184"/>
          </a:xfrm>
          <a:prstGeom prst="rect">
            <a:avLst/>
          </a:prstGeom>
          <a:solidFill>
            <a:srgbClr val="A32D2D">
              <a:alpha val="80000"/>
            </a:srgbClr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61872" y="424281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Llegada Destino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261872" y="4389120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8E8E8"/>
                </a:solidFill>
              </a:rPr>
              <a:t>Confirmación final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320040" y="4626864"/>
            <a:ext cx="1828800" cy="34747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681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185FA5"/>
                </a:solidFill>
              </a:rPr>
              <a:t>Inicio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685800" y="4681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4748B"/>
                </a:solidFill>
              </a:rPr>
              <a:t>Check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1051560" y="4681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4748B"/>
                </a:solidFill>
              </a:rPr>
              <a:t>Pagos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1417320" y="4681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4748B"/>
                </a:solidFill>
              </a:rPr>
              <a:t>Alertas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1783080" y="4681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4748B"/>
                </a:solidFill>
              </a:rPr>
              <a:t>Perfil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2468880" y="1005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E"/>
                </a:solidFill>
              </a:rPr>
              <a:t>Puntos clave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468880" y="1371600"/>
            <a:ext cx="4389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2514600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🕐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2834640" y="14173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B4E"/>
                </a:solidFill>
              </a:rPr>
              <a:t>Fecha y hora prominentes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83464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Arriba izquierda. Hora en 22pt para visibilidad en campo.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468880" y="1938528"/>
            <a:ext cx="4389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251460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👤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2834640" y="1984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B4E"/>
                </a:solidFill>
              </a:rPr>
              <a:t>Avatar + nombre + rol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834640" y="2167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Identificación inmediata del usuario. Región visible.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468880" y="2505456"/>
            <a:ext cx="4389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251460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🗺️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2834640" y="25511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B4E"/>
                </a:solidFill>
              </a:rPr>
              <a:t>Ruta activa del día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834640" y="27340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Origen → Destino + placa en strip compacto con estado.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468880" y="3072384"/>
            <a:ext cx="4389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251460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2834640" y="3118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B4E"/>
                </a:solidFill>
              </a:rPr>
              <a:t>Tareas asignadas en orden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834640" y="3300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Progreso visual con íconos de estado. La tarea activa resaltada en azul.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468880" y="3639312"/>
            <a:ext cx="4389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251460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🔴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2834640" y="36850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B4E"/>
                </a:solidFill>
              </a:rPr>
              <a:t>4 botones de evento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834640" y="3867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Código de color: azul=llegada, ámbar=parada, verde=reinicio, rojo=destino.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468880" y="4206240"/>
            <a:ext cx="4389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251460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📍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2834640" y="4251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B4E"/>
                </a:solidFill>
              </a:rPr>
              <a:t>GPS automático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834640" y="4434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Coordenadas capturadas sin acción del conductor en cada registro.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132320" y="1005840"/>
            <a:ext cx="4663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7223760" y="1078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2D2D"/>
                </a:solidFill>
              </a:rPr>
              <a:t>Flujo Fuerza Mayor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223760" y="13716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Activado desde botón PARADA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223760" y="1645920"/>
            <a:ext cx="256032" cy="25603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23760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543800" y="16824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B4E"/>
                </a:solidFill>
              </a:rPr>
              <a:t>Toggle 'Es fuerza mayor'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351776" y="1901952"/>
            <a:ext cx="0" cy="155448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223760" y="2057400"/>
            <a:ext cx="256032" cy="25603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2376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543800" y="20939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B4E"/>
                </a:solidFill>
              </a:rPr>
              <a:t>Seleccionar tipo de evento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7351776" y="2313432"/>
            <a:ext cx="0" cy="155448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23760" y="2468880"/>
            <a:ext cx="256032" cy="25603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2376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543800" y="2505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32D2D"/>
                </a:solidFill>
              </a:rPr>
              <a:t>3 FOTOS OBLIGATORIAS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351776" y="2724912"/>
            <a:ext cx="0" cy="155448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223760" y="2880360"/>
            <a:ext cx="256032" cy="25603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22376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7543800" y="2916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B4E"/>
                </a:solidFill>
              </a:rPr>
              <a:t>Descripción detallada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7351776" y="3136392"/>
            <a:ext cx="0" cy="155448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223760" y="3291840"/>
            <a:ext cx="256032" cy="25603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22376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543800" y="33284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B4E"/>
                </a:solidFill>
              </a:rPr>
              <a:t>Envío con alerta al supervisor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7223760" y="37490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2B4E"/>
                </a:solidFill>
              </a:rPr>
              <a:t>Tipos de evento: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7223760" y="3977640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FCEBEB"/>
          </a:solidFill>
          <a:ln/>
        </p:spPr>
      </p:sp>
      <p:sp>
        <p:nvSpPr>
          <p:cNvPr id="109" name="Text 107"/>
          <p:cNvSpPr/>
          <p:nvPr/>
        </p:nvSpPr>
        <p:spPr>
          <a:xfrm>
            <a:off x="7223760" y="3977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91F1F"/>
                </a:solidFill>
              </a:rPr>
              <a:t>Derrumbe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9509760" y="3977640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FCEBEB"/>
          </a:solidFill>
          <a:ln/>
        </p:spPr>
      </p:sp>
      <p:sp>
        <p:nvSpPr>
          <p:cNvPr id="111" name="Text 109"/>
          <p:cNvSpPr/>
          <p:nvPr/>
        </p:nvSpPr>
        <p:spPr>
          <a:xfrm>
            <a:off x="9509760" y="3977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91F1F"/>
                </a:solidFill>
              </a:rPr>
              <a:t>Inundación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7223760" y="4197096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FCEBEB"/>
          </a:solidFill>
          <a:ln/>
        </p:spPr>
      </p:sp>
      <p:sp>
        <p:nvSpPr>
          <p:cNvPr id="113" name="Text 111"/>
          <p:cNvSpPr/>
          <p:nvPr/>
        </p:nvSpPr>
        <p:spPr>
          <a:xfrm>
            <a:off x="7223760" y="41970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91F1F"/>
                </a:solidFill>
              </a:rPr>
              <a:t>Caída puente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9509760" y="4197096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FCEBEB"/>
          </a:solidFill>
          <a:ln/>
        </p:spPr>
      </p:sp>
      <p:sp>
        <p:nvSpPr>
          <p:cNvPr id="115" name="Text 113"/>
          <p:cNvSpPr/>
          <p:nvPr/>
        </p:nvSpPr>
        <p:spPr>
          <a:xfrm>
            <a:off x="9509760" y="41970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91F1F"/>
                </a:solidFill>
              </a:rPr>
              <a:t>Lluvias intensas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7223760" y="4416552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FCEBEB"/>
          </a:solidFill>
          <a:ln/>
        </p:spPr>
      </p:sp>
      <p:sp>
        <p:nvSpPr>
          <p:cNvPr id="117" name="Text 115"/>
          <p:cNvSpPr/>
          <p:nvPr/>
        </p:nvSpPr>
        <p:spPr>
          <a:xfrm>
            <a:off x="7223760" y="44165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91F1F"/>
                </a:solidFill>
              </a:rPr>
              <a:t>Contingencia social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9509760" y="4416552"/>
            <a:ext cx="2103120" cy="182880"/>
          </a:xfrm>
          <a:prstGeom prst="roundRect">
            <a:avLst>
              <a:gd name="adj" fmla="val 20000"/>
            </a:avLst>
          </a:prstGeom>
          <a:solidFill>
            <a:srgbClr val="FCEBEB"/>
          </a:solidFill>
          <a:ln/>
        </p:spPr>
      </p:sp>
      <p:sp>
        <p:nvSpPr>
          <p:cNvPr id="119" name="Text 117"/>
          <p:cNvSpPr/>
          <p:nvPr/>
        </p:nvSpPr>
        <p:spPr>
          <a:xfrm>
            <a:off x="9509760" y="44165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91F1F"/>
                </a:solidFill>
              </a:rPr>
              <a:t>Otros (campo libre)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7132320" y="5212080"/>
            <a:ext cx="466344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205472" y="5266944"/>
            <a:ext cx="45171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El botón ENVIAR queda deshabilitado hasta tener las 3 fotos. Previene registros incompletos en eventos críticos.</a:t>
            </a:r>
            <a:endParaRPr lang="en-US" sz="750" dirty="0"/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44993A03-91D9-47A7-9278-1B216DF31CCA}"/>
              </a:ext>
            </a:extLst>
          </p:cNvPr>
          <p:cNvSpPr txBox="1"/>
          <p:nvPr/>
        </p:nvSpPr>
        <p:spPr>
          <a:xfrm>
            <a:off x="1746504" y="6031684"/>
            <a:ext cx="7503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Falta registrar ingreso de camioneta al taller, con el posible daño, diagnostico.</a:t>
            </a:r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 · DRIVER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B4E"/>
                </a:solidFill>
              </a:rPr>
              <a:t>Formularios de Registro en Campo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LLEGADA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</a:rPr>
              <a:t>AUTO — sin acción del conductor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256032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7099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85FA5"/>
                </a:solidFill>
              </a:rPr>
              <a:t>⚡ Fecha y hora auto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11480" y="1892808"/>
            <a:ext cx="256032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91109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85FA5"/>
                </a:solidFill>
              </a:rPr>
              <a:t>⚡ Coordenadas GPS auto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21854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</a:rPr>
              <a:t>CAMPOS A COMPLETAR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11480" y="238658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Sitio / punto de recojo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1480" y="2542032"/>
            <a:ext cx="256032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151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</a:rPr>
              <a:t>_____________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286207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Personal recogido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256032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906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</a:rPr>
              <a:t>_____________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3375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Foto de evidencia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3493008"/>
            <a:ext cx="2560320" cy="274320"/>
          </a:xfrm>
          <a:prstGeom prst="rect">
            <a:avLst/>
          </a:prstGeom>
          <a:solidFill>
            <a:srgbClr val="FCEBEB"/>
          </a:solidFill>
          <a:ln w="12700">
            <a:solidFill>
              <a:srgbClr val="D0D8E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11480" y="3538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2D2D"/>
                </a:solidFill>
              </a:rPr>
              <a:t>📷  Tomar foto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81304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Notas adicionales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3968496"/>
            <a:ext cx="256032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4164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</a:rPr>
              <a:t>_____________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6126480"/>
            <a:ext cx="2560320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6126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Registrar llegada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46120" y="100584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1005840"/>
            <a:ext cx="274320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15087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</a:rPr>
              <a:t>AUTO — sin acción del conductor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337560" y="1691640"/>
            <a:ext cx="256032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17099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85FA5"/>
                </a:solidFill>
              </a:rPr>
              <a:t>⚡ Fecha y hora auto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337560" y="1892808"/>
            <a:ext cx="256032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55848" y="191109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85FA5"/>
                </a:solidFill>
              </a:rPr>
              <a:t>⚡ GPS auto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337560" y="21854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</a:rPr>
              <a:t>CAMPOS A COMPLETAR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337560" y="238658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Motivo de la parada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337560" y="2542032"/>
            <a:ext cx="256032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26151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</a:rPr>
              <a:t>_____________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37560" y="286207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Foto del sitio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337560" y="3017520"/>
            <a:ext cx="2560320" cy="274320"/>
          </a:xfrm>
          <a:prstGeom prst="rect">
            <a:avLst/>
          </a:prstGeom>
          <a:solidFill>
            <a:srgbClr val="FCEBEB"/>
          </a:solidFill>
          <a:ln w="12700">
            <a:solidFill>
              <a:srgbClr val="D0D8E4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337560" y="3063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2D2D"/>
                </a:solidFill>
              </a:rPr>
              <a:t>📷  Tomar foto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37560" y="33375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Notas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37560" y="3493008"/>
            <a:ext cx="256032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0" y="356616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</a:rPr>
              <a:t>_____________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37560" y="381304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[Toggle] Fuerza Mayor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337560" y="3968496"/>
            <a:ext cx="2560320" cy="256032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55848" y="40325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2D2D"/>
                </a:solidFill>
              </a:rPr>
              <a:t>⚠ Activar fuerza mayor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37560" y="6126480"/>
            <a:ext cx="2560320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6126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Registrar parada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72200" y="100584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1005840"/>
            <a:ext cx="2743200" cy="411480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REINICIO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63640" y="15087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</a:rPr>
              <a:t>AUTO — sin acción del conductor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263640" y="1691640"/>
            <a:ext cx="256032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81928" y="17099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85FA5"/>
                </a:solidFill>
              </a:rPr>
              <a:t>⚡ Fecha y hora auto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63640" y="1892808"/>
            <a:ext cx="256032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81928" y="191109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85FA5"/>
                </a:solidFill>
              </a:rPr>
              <a:t>⚡ GPS auto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263640" y="2093976"/>
            <a:ext cx="256032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81928" y="211226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85FA5"/>
                </a:solidFill>
              </a:rPr>
              <a:t>⚡ Duración parada auto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263640" y="23865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</a:rPr>
              <a:t>CAMPOS A COMPLETAR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63640" y="258775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Destino siguiente (readonly)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263640" y="2743200"/>
            <a:ext cx="256032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281635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</a:rPr>
              <a:t>_____________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63640" y="306324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Notas de reinicio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263640" y="3218688"/>
            <a:ext cx="256032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32918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</a:rPr>
              <a:t>_____________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263640" y="6126480"/>
            <a:ext cx="2560320" cy="201168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63640" y="6126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Registrar reinicio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098280" y="100584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9098280" y="1005840"/>
            <a:ext cx="2743200" cy="411480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8972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LLEGADA DESTINO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189720" y="15087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</a:rPr>
              <a:t>AUTO — sin acción del conductor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189720" y="1691640"/>
            <a:ext cx="256032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208008" y="17099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85FA5"/>
                </a:solidFill>
              </a:rPr>
              <a:t>⚡ Fecha y hora auto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9189720" y="1892808"/>
            <a:ext cx="256032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08008" y="191109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85FA5"/>
                </a:solidFill>
              </a:rPr>
              <a:t>⚡ GPS auto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9189720" y="2093976"/>
            <a:ext cx="2560320" cy="164592"/>
          </a:xfrm>
          <a:prstGeom prst="rect">
            <a:avLst/>
          </a:prstGeom>
          <a:solidFill>
            <a:srgbClr val="E6F1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208008" y="211226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85FA5"/>
                </a:solidFill>
              </a:rPr>
              <a:t>⚡ Km recorridos auto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9189720" y="23865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</a:rPr>
              <a:t>CAMPOS A COMPLETAR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9189720" y="258775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Destino confirmado (readonly)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9189720" y="2743200"/>
            <a:ext cx="256032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235440" y="281635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</a:rPr>
              <a:t>_____________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9189720" y="306324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Personal desembarcado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9189720" y="3218688"/>
            <a:ext cx="256032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35440" y="32918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</a:rPr>
              <a:t>_____________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9189720" y="353872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Foto de llegada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9189720" y="3694176"/>
            <a:ext cx="2560320" cy="274320"/>
          </a:xfrm>
          <a:prstGeom prst="rect">
            <a:avLst/>
          </a:prstGeom>
          <a:solidFill>
            <a:srgbClr val="FCEBEB"/>
          </a:solidFill>
          <a:ln w="12700">
            <a:solidFill>
              <a:srgbClr val="D0D8E4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9189720" y="3739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2D2D"/>
                </a:solidFill>
              </a:rPr>
              <a:t>📷  Tomar foto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189720" y="401421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A5568"/>
                </a:solidFill>
              </a:rPr>
              <a:t>Notas finales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9189720" y="4169664"/>
            <a:ext cx="256032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235440" y="42428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</a:rPr>
              <a:t>_____________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9189720" y="6126480"/>
            <a:ext cx="2560320" cy="201168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189720" y="6126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Registrar llegada destino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D6B5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 · TÉCNICO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B4E"/>
                </a:solidFill>
              </a:rPr>
              <a:t>App Técnico de Instalación — Panel Principal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82880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607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BA8B5"/>
                </a:solidFill>
              </a:rPr>
              <a:t>9:41  ●●●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1828800" cy="329184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26187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FlotaOS — Técnico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664208"/>
            <a:ext cx="1645920" cy="411480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916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2B4E"/>
                </a:solidFill>
              </a:rPr>
              <a:t>Luis Herrera · Técnico Sr.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29768" y="183794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Team Alpha · Áncash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11480" y="2121408"/>
            <a:ext cx="1645920" cy="201168"/>
          </a:xfrm>
          <a:prstGeom prst="rect">
            <a:avLst/>
          </a:prstGeom>
          <a:solidFill>
            <a:srgbClr val="E0F5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1488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D6B56"/>
                </a:solidFill>
              </a:rPr>
              <a:t>⚡ Nodo T4191_SM_TARAPOTO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11480" y="239572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</a:rPr>
              <a:t>TAREAS DEL NODO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411480" y="2560320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" y="2596896"/>
            <a:ext cx="128016" cy="128016"/>
          </a:xfrm>
          <a:prstGeom prst="ellipse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59689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</a:rPr>
              <a:t>✓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612648" y="260604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2B4E"/>
                </a:solidFill>
              </a:rPr>
              <a:t>Instalación antena 4G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11480" y="2788920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2825496"/>
            <a:ext cx="128016" cy="128016"/>
          </a:xfrm>
          <a:prstGeom prst="ellipse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282549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</a:rPr>
              <a:t>✓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612648" y="283464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2B4E"/>
                </a:solidFill>
              </a:rPr>
              <a:t>Revisión generador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11480" y="3017520"/>
            <a:ext cx="1645920" cy="201168"/>
          </a:xfrm>
          <a:prstGeom prst="rect">
            <a:avLst/>
          </a:prstGeom>
          <a:solidFill>
            <a:srgbClr val="E0F5EF"/>
          </a:solidFill>
          <a:ln w="12700">
            <a:solidFill>
              <a:srgbClr val="0D6B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" y="3054096"/>
            <a:ext cx="128016" cy="128016"/>
          </a:xfrm>
          <a:prstGeom prst="ellipse">
            <a:avLst/>
          </a:prstGeom>
          <a:solidFill>
            <a:srgbClr val="D0D8E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305409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612648" y="306324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D6B56"/>
                </a:solidFill>
              </a:rPr>
              <a:t>Carga combustible DG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11480" y="3246120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" y="3282696"/>
            <a:ext cx="128016" cy="128016"/>
          </a:xfrm>
          <a:prstGeom prst="ellipse">
            <a:avLst/>
          </a:prstGeom>
          <a:solidFill>
            <a:srgbClr val="D0D8E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" y="328269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612648" y="329184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F2B4E"/>
                </a:solidFill>
              </a:rPr>
              <a:t>Checklist cierre nodo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11480" y="352958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</a:rPr>
              <a:t>ACCIONES RÁPIDAS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411480" y="3694176"/>
            <a:ext cx="786384" cy="329184"/>
          </a:xfrm>
          <a:prstGeom prst="rect">
            <a:avLst/>
          </a:prstGeom>
          <a:solidFill>
            <a:srgbClr val="0D6B56">
              <a:alpha val="85000"/>
            </a:srgbClr>
          </a:solidFill>
          <a:ln w="12700">
            <a:solidFill>
              <a:srgbClr val="0D6B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764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Check-in nodo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261872" y="3694176"/>
            <a:ext cx="786384" cy="329184"/>
          </a:xfrm>
          <a:prstGeom prst="rect">
            <a:avLst/>
          </a:prstGeom>
          <a:solidFill>
            <a:srgbClr val="BA7517">
              <a:alpha val="85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61872" y="37764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Gas Generador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11480" y="4078224"/>
            <a:ext cx="786384" cy="32918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16052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Fuerza Mayor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261872" y="4078224"/>
            <a:ext cx="786384" cy="329184"/>
          </a:xfrm>
          <a:prstGeom prst="rect">
            <a:avLst/>
          </a:prstGeom>
          <a:solidFill>
            <a:srgbClr val="3B6D11">
              <a:alpha val="85000"/>
            </a:srgbClr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61872" y="416052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Cierre nodo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20040" y="4626864"/>
            <a:ext cx="1828800" cy="347472"/>
          </a:xfrm>
          <a:prstGeom prst="rect">
            <a:avLst/>
          </a:prstGeom>
          <a:solidFill>
            <a:srgbClr val="E8EEF6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681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D6B56"/>
                </a:solidFill>
              </a:rPr>
              <a:t>Inicio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685800" y="4681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4748B"/>
                </a:solidFill>
              </a:rPr>
              <a:t>Tareas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1051560" y="4681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4748B"/>
                </a:solidFill>
              </a:rPr>
              <a:t>Pagos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1417320" y="4681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4748B"/>
                </a:solidFill>
              </a:rPr>
              <a:t>Alertas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1783080" y="46817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4748B"/>
                </a:solidFill>
              </a:rPr>
              <a:t>Perfil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2468880" y="100584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E"/>
                </a:solidFill>
              </a:rPr>
              <a:t>Diferencias vs App Driver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468880" y="1371600"/>
            <a:ext cx="4480560" cy="228600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68880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APP DRIVER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1371600"/>
            <a:ext cx="2194560" cy="228600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APP TÉCNICO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468880" y="1664208"/>
            <a:ext cx="219456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14600" y="1737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85FA5"/>
                </a:solidFill>
              </a:rPr>
              <a:t>Registro de viaje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85FA5"/>
                </a:solidFill>
              </a:rPr>
              <a:t>(llegada, parada, reinicio, destino)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54880" y="1664208"/>
            <a:ext cx="2194560" cy="502920"/>
          </a:xfrm>
          <a:prstGeom prst="rect">
            <a:avLst/>
          </a:prstGeom>
          <a:solidFill>
            <a:srgbClr val="E0F5EF"/>
          </a:solidFill>
          <a:ln w="12700">
            <a:solidFill>
              <a:srgbClr val="0D6B5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1737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6B56"/>
                </a:solidFill>
              </a:rPr>
              <a:t>Registro de tareas de nodo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D6B56"/>
                </a:solidFill>
              </a:rPr>
              <a:t>(check-in, instalación, mantenimiento, cierre)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468880" y="2231136"/>
            <a:ext cx="219456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14600" y="23042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85FA5"/>
                </a:solidFill>
              </a:rPr>
              <a:t>No maneja gastos de nodo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754880" y="2231136"/>
            <a:ext cx="2194560" cy="502920"/>
          </a:xfrm>
          <a:prstGeom prst="rect">
            <a:avLst/>
          </a:prstGeom>
          <a:solidFill>
            <a:srgbClr val="E0F5EF"/>
          </a:solidFill>
          <a:ln w="12700">
            <a:solidFill>
              <a:srgbClr val="0D6B5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23042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6B56"/>
                </a:solidFill>
              </a:rPr>
              <a:t>Carga gas generador y combustible camioneta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468880" y="2798064"/>
            <a:ext cx="219456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14600" y="28712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85FA5"/>
                </a:solidFill>
              </a:rPr>
              <a:t>Ve su ruta del día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54880" y="2798064"/>
            <a:ext cx="2194560" cy="502920"/>
          </a:xfrm>
          <a:prstGeom prst="rect">
            <a:avLst/>
          </a:prstGeom>
          <a:solidFill>
            <a:srgbClr val="E0F5EF"/>
          </a:solidFill>
          <a:ln w="12700">
            <a:solidFill>
              <a:srgbClr val="0D6B5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0600" y="28712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6B56"/>
                </a:solidFill>
              </a:rPr>
              <a:t>Ve tareas asignadas por nodo + materiales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468880" y="3364992"/>
            <a:ext cx="219456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14600" y="34381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85FA5"/>
                </a:solidFill>
              </a:rPr>
              <a:t>Fuerza mayor de transporte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754880" y="3364992"/>
            <a:ext cx="2194560" cy="502920"/>
          </a:xfrm>
          <a:prstGeom prst="rect">
            <a:avLst/>
          </a:prstGeom>
          <a:solidFill>
            <a:srgbClr val="E0F5EF"/>
          </a:solidFill>
          <a:ln w="12700">
            <a:solidFill>
              <a:srgbClr val="0D6B5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34381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6B56"/>
                </a:solidFill>
              </a:rPr>
              <a:t>Fuerza mayor de instalación en nodo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315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E"/>
                </a:solidFill>
              </a:rPr>
              <a:t>Estructura del Team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412480" y="137160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0F2B4E"/>
          </a:solidFill>
          <a:ln/>
        </p:spPr>
      </p:sp>
      <p:sp>
        <p:nvSpPr>
          <p:cNvPr id="70" name="Text 68"/>
          <p:cNvSpPr/>
          <p:nvPr/>
        </p:nvSpPr>
        <p:spPr>
          <a:xfrm>
            <a:off x="8485632" y="14173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Camioneta (Team Alpha)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315200" y="20116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85FA5"/>
          </a:solidFill>
          <a:ln/>
        </p:spPr>
      </p:sp>
      <p:sp>
        <p:nvSpPr>
          <p:cNvPr id="72" name="Text 70"/>
          <p:cNvSpPr/>
          <p:nvPr/>
        </p:nvSpPr>
        <p:spPr>
          <a:xfrm>
            <a:off x="7388352" y="205740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DRIVER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ABC-123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235440" y="201168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0D6B56"/>
          </a:solidFill>
          <a:ln/>
        </p:spPr>
      </p:sp>
      <p:sp>
        <p:nvSpPr>
          <p:cNvPr id="74" name="Text 72"/>
          <p:cNvSpPr/>
          <p:nvPr/>
        </p:nvSpPr>
        <p:spPr>
          <a:xfrm>
            <a:off x="9308592" y="20574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TÉC. GRUPO A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2 técnicos → Nodo T4191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9235440" y="28346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0D6B56"/>
          </a:solidFill>
          <a:ln/>
        </p:spPr>
      </p:sp>
      <p:sp>
        <p:nvSpPr>
          <p:cNvPr id="76" name="Text 74"/>
          <p:cNvSpPr/>
          <p:nvPr/>
        </p:nvSpPr>
        <p:spPr>
          <a:xfrm>
            <a:off x="9308592" y="288036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TÉC. GRUPO B</a:t>
            </a:r>
            <a:endParaRPr lang="en-US" sz="750" dirty="0"/>
          </a:p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1 técnico → Nodo T4195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189720" y="1783080"/>
            <a:ext cx="0" cy="22860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189720" y="2011680"/>
            <a:ext cx="45720" cy="50292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189720" y="2514600"/>
            <a:ext cx="45720" cy="32004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23760" y="3474720"/>
            <a:ext cx="4663440" cy="457200"/>
          </a:xfrm>
          <a:prstGeom prst="rect">
            <a:avLst/>
          </a:prstGeom>
          <a:solidFill>
            <a:srgbClr val="E0F5E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96912" y="3529584"/>
            <a:ext cx="45171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Cada subgrupo de técnicos registra sus eventos independientemente. Todos quedan vinculados al mismo team_id y trip_id del día.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 · PAGOS DE CAMPO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B4E"/>
                </a:solidFill>
              </a:rPr>
              <a:t>Registro de Gastos de Campo — App Móvil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82880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607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BA8B5"/>
                </a:solidFill>
              </a:rPr>
              <a:t>9:41  ●●●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1828800" cy="329184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26187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Registrar Gasto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Selecciona el tipo de pago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786384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3852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2B4E"/>
                </a:solidFill>
              </a:rPr>
              <a:t>Combustible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11480" y="2286000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</a:rPr>
              <a:t>Camioneta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1261872" y="1901952"/>
            <a:ext cx="786384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193852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21762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2B4E"/>
                </a:solidFill>
              </a:rPr>
              <a:t>Gas Generador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261872" y="2286000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</a:rPr>
              <a:t>DG Refuel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411480" y="2468880"/>
            <a:ext cx="786384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0545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🛣️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2743200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2B4E"/>
                </a:solidFill>
              </a:rPr>
              <a:t>Peajes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11480" y="2852928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</a:rPr>
              <a:t>Ruta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1261872" y="2468880"/>
            <a:ext cx="786384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250545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🍽️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61872" y="2743200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2B4E"/>
                </a:solidFill>
              </a:rPr>
              <a:t>Viáticos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261872" y="2852928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</a:rPr>
              <a:t>Alimentación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411480" y="3035808"/>
            <a:ext cx="786384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072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3310128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2B4E"/>
                </a:solidFill>
              </a:rPr>
              <a:t>Consumibles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11480" y="3419856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</a:rPr>
              <a:t>Materiales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261872" y="3035808"/>
            <a:ext cx="786384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3072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61872" y="3310128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2B4E"/>
                </a:solidFill>
              </a:rPr>
              <a:t>Otros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261872" y="3419856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</a:rPr>
              <a:t>Varios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2377440" y="100584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377440" y="1005840"/>
            <a:ext cx="182880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0592" y="10607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BA8B5"/>
                </a:solidFill>
              </a:rPr>
              <a:t>9:41  ●●●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377440" y="1261872"/>
            <a:ext cx="1828800" cy="329184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126187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Mis Gastos — Mayo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68880" y="1664208"/>
            <a:ext cx="1645920" cy="502920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87168" y="17007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E"/>
                </a:solidFill>
              </a:rPr>
              <a:t>S/ 847.50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2487168" y="191109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Total registrado este mes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468880" y="2212848"/>
            <a:ext cx="786384" cy="182880"/>
          </a:xfrm>
          <a:prstGeom prst="rect">
            <a:avLst/>
          </a:prstGeom>
          <a:solidFill>
            <a:srgbClr val="EAF3D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2240280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7500A"/>
                </a:solidFill>
              </a:rPr>
              <a:t>S/520 Rendido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328416" y="2212848"/>
            <a:ext cx="786384" cy="182880"/>
          </a:xfrm>
          <a:prstGeom prst="rect">
            <a:avLst/>
          </a:prstGeom>
          <a:solidFill>
            <a:srgbClr val="FAEED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28416" y="2240280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33806"/>
                </a:solidFill>
              </a:rPr>
              <a:t>S/327 Pendiente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2468880" y="246888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87168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15768" y="25146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2B4E"/>
                </a:solidFill>
              </a:rPr>
              <a:t>Gas Generador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715768" y="267004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T4191_SM · hoy 09:42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584448" y="251460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A32D2D"/>
                </a:solidFill>
              </a:rPr>
              <a:t>-S/288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584448" y="2679192"/>
            <a:ext cx="493776" cy="128016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/>
        </p:spPr>
      </p:sp>
      <p:sp>
        <p:nvSpPr>
          <p:cNvPr id="53" name="Text 51"/>
          <p:cNvSpPr/>
          <p:nvPr/>
        </p:nvSpPr>
        <p:spPr>
          <a:xfrm>
            <a:off x="3584448" y="267919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33806"/>
                </a:solidFill>
              </a:rPr>
              <a:t>Pendiente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2468880" y="289864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87168" y="2990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🛣️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715768" y="294436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2B4E"/>
                </a:solidFill>
              </a:rPr>
              <a:t>Peaje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715768" y="309981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Huaraz–Casma · ayer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3584448" y="2944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A32D2D"/>
                </a:solidFill>
              </a:rPr>
              <a:t>-S/13.50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584448" y="3108960"/>
            <a:ext cx="493776" cy="128016"/>
          </a:xfrm>
          <a:prstGeom prst="roundRect">
            <a:avLst>
              <a:gd name="adj" fmla="val 21429"/>
            </a:avLst>
          </a:prstGeom>
          <a:solidFill>
            <a:srgbClr val="EAF3DE"/>
          </a:solidFill>
          <a:ln/>
        </p:spPr>
      </p:sp>
      <p:sp>
        <p:nvSpPr>
          <p:cNvPr id="60" name="Text 58"/>
          <p:cNvSpPr/>
          <p:nvPr/>
        </p:nvSpPr>
        <p:spPr>
          <a:xfrm>
            <a:off x="3584448" y="310896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27500A"/>
                </a:solidFill>
              </a:rPr>
              <a:t>Rendido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2468880" y="332841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87168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🍽️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15768" y="337413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2B4E"/>
                </a:solidFill>
              </a:rPr>
              <a:t>Viáticos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715768" y="352958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Caraz · 13/05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584448" y="337413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A32D2D"/>
                </a:solidFill>
              </a:rPr>
              <a:t>-S/80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584448" y="3538728"/>
            <a:ext cx="493776" cy="128016"/>
          </a:xfrm>
          <a:prstGeom prst="roundRect">
            <a:avLst>
              <a:gd name="adj" fmla="val 21429"/>
            </a:avLst>
          </a:prstGeom>
          <a:solidFill>
            <a:srgbClr val="EAF3DE"/>
          </a:solidFill>
          <a:ln/>
        </p:spPr>
      </p:sp>
      <p:sp>
        <p:nvSpPr>
          <p:cNvPr id="67" name="Text 65"/>
          <p:cNvSpPr/>
          <p:nvPr/>
        </p:nvSpPr>
        <p:spPr>
          <a:xfrm>
            <a:off x="3584448" y="3538728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27500A"/>
                </a:solidFill>
              </a:rPr>
              <a:t>Rendido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2468880" y="375818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87168" y="3849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🔧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715768" y="380390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2B4E"/>
                </a:solidFill>
              </a:rPr>
              <a:t>Consumibles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715768" y="395935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Nodo Huaraz · 12/05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584448" y="3803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A32D2D"/>
                </a:solidFill>
              </a:rPr>
              <a:t>-S/46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3584448" y="3968496"/>
            <a:ext cx="493776" cy="128016"/>
          </a:xfrm>
          <a:prstGeom prst="roundRect">
            <a:avLst>
              <a:gd name="adj" fmla="val 21429"/>
            </a:avLst>
          </a:prstGeom>
          <a:solidFill>
            <a:srgbClr val="FCEBEB"/>
          </a:solidFill>
          <a:ln/>
        </p:spPr>
      </p:sp>
      <p:sp>
        <p:nvSpPr>
          <p:cNvPr id="74" name="Text 72"/>
          <p:cNvSpPr/>
          <p:nvPr/>
        </p:nvSpPr>
        <p:spPr>
          <a:xfrm>
            <a:off x="3584448" y="396849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791F1F"/>
                </a:solidFill>
              </a:rPr>
              <a:t>Observado</a:t>
            </a:r>
            <a:endParaRPr lang="en-US" sz="550" dirty="0"/>
          </a:p>
        </p:txBody>
      </p:sp>
      <p:sp>
        <p:nvSpPr>
          <p:cNvPr id="75" name="Text 73"/>
          <p:cNvSpPr/>
          <p:nvPr/>
        </p:nvSpPr>
        <p:spPr>
          <a:xfrm>
            <a:off x="4434840" y="1005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E"/>
                </a:solidFill>
              </a:rPr>
              <a:t>Puntos clave — Pagos de campo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434840" y="137160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454456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4965192" y="1481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E"/>
                </a:solidFill>
              </a:rPr>
              <a:t>Gas Generador = DG Refuel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965192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Campo 'Nodo/Site destino' (T4191_SM_TARAPOTO) se autocompleta con el nodo más cercano por GPS.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434840" y="256032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4544568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🛣️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4965192" y="26700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E"/>
                </a:solidFill>
              </a:rPr>
              <a:t>Peajes — GPS automático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965192" y="29077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La ubicación del peaje se registra automáticamente. El conductor solo escribe el monto.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434840" y="374904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4544568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4965192" y="3858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E"/>
                </a:solidFill>
              </a:rPr>
              <a:t>Foto obligatoria de comprobante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965192" y="40965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Sin foto el status queda como 'Observado'. Sistema previene registros sin evidencia.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275320" y="137160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838504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8805672" y="1481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E"/>
                </a:solidFill>
              </a:rPr>
              <a:t>Reconciliación automática con M3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805672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DG Refuel y Combustible camioneta se cruzan con fuel_records sin intervención manual.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275320" y="256032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8385048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8805672" y="26700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E"/>
                </a:solidFill>
              </a:rPr>
              <a:t>Balance en tiempo real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8805672" y="29077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El conductor ve cuánto tiene rendido vs pendiente. Admin de Lima hace el cruce contable.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8275320" y="374904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8385048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8805672" y="3858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E"/>
                </a:solidFill>
              </a:rPr>
              <a:t>Vinculado a Caja Chica regional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805672" y="40965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Cada gasto crea automáticamente una petty_cash_transaction con la región y supervisor correcto.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B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9DC3F0"/>
                </a:solidFill>
              </a:rPr>
              <a:t>SECCIÓN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Web Dashboard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DC3F0"/>
                </a:solidFill>
              </a:rPr>
              <a:t>Supervisor · Coordinador · Asistente Regional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A8B5"/>
                </a:solidFill>
              </a:rPr>
              <a:t>GPS en tiempo real · Mantenimiento · KPIs · Caja Chica · Gestión de Teams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F2B4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WEB · GPS TIEMPO REAL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B4E"/>
                </a:solidFill>
              </a:rPr>
              <a:t>Dashboard GPS — Monitoreo en Tiempo Real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7772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7772400" cy="292608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BA8B5"/>
                </a:solidFill>
              </a:rPr>
              <a:t>● ● ●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FlotaOS Admin · GPS en tiempo real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1645920" cy="5010912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3898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4748B"/>
                </a:solidFill>
              </a:rPr>
              <a:t>FLOTA (12)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93192" y="1600200"/>
            <a:ext cx="1508760" cy="347472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1709928"/>
            <a:ext cx="109728" cy="10972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63677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ABC-123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76072" y="178308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67 km/h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93192" y="2011680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2121408"/>
            <a:ext cx="109728" cy="10972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04825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DEF-456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76072" y="219456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Detenido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93192" y="2423160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2532888"/>
            <a:ext cx="109728" cy="10972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45973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JKL-321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76072" y="260604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⚠ Alerta zona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93192" y="2834640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2944368"/>
            <a:ext cx="109728" cy="10972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287121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GHI-789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6072" y="301752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45 km/h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93192" y="3246120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" y="3355848"/>
            <a:ext cx="109728" cy="10972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28269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VWX-741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76072" y="342900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Velocidad!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965960" y="1298448"/>
            <a:ext cx="6126480" cy="3749040"/>
          </a:xfrm>
          <a:prstGeom prst="rect">
            <a:avLst/>
          </a:prstGeom>
          <a:solidFill>
            <a:srgbClr val="E8ED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8B5"/>
                </a:solidFill>
              </a:rPr>
              <a:t>[ MAPA MAPBOX — GPS TIEMPO REAL 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80360" y="173736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3B6D11"/>
          </a:solidFill>
          <a:ln/>
        </p:spPr>
      </p:sp>
      <p:sp>
        <p:nvSpPr>
          <p:cNvPr id="34" name="Text 32"/>
          <p:cNvSpPr/>
          <p:nvPr/>
        </p:nvSpPr>
        <p:spPr>
          <a:xfrm>
            <a:off x="2926080" y="1764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ABC-123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67km/h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3246120" y="228600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A32D2D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0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JKL-321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⚠ALERTA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5349240" y="182880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3B6D11"/>
          </a:solidFill>
          <a:ln/>
        </p:spPr>
      </p:sp>
      <p:sp>
        <p:nvSpPr>
          <p:cNvPr id="38" name="Text 36"/>
          <p:cNvSpPr/>
          <p:nvPr/>
        </p:nvSpPr>
        <p:spPr>
          <a:xfrm>
            <a:off x="5394960" y="1856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GHI-789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45km/h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6263640" y="301752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BA7517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3044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VWX-741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velocidad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715000" y="1371600"/>
            <a:ext cx="2194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806440" y="1444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2B4E"/>
                </a:solidFill>
              </a:rPr>
              <a:t>ABC-123 — Detalle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06440" y="1664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Velocidad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20840" y="1664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F2B4E"/>
                </a:solidFill>
              </a:rPr>
              <a:t>67 km/h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06440" y="1920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Conductor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720840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F2B4E"/>
                </a:solidFill>
              </a:rPr>
              <a:t>J. Quispe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06440" y="2176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Motor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720840" y="2176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F2B4E"/>
                </a:solidFill>
              </a:rPr>
              <a:t>Encendido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806440" y="2432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Km hoy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720840" y="2432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F2B4E"/>
                </a:solidFill>
              </a:rPr>
              <a:t>143 km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806440" y="26883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Ralentí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720840" y="26883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F2B4E"/>
                </a:solidFill>
              </a:rPr>
              <a:t>8 min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965960" y="5047488"/>
            <a:ext cx="6126480" cy="274320"/>
          </a:xfrm>
          <a:prstGeom prst="rect">
            <a:avLst/>
          </a:prstGeom>
          <a:solidFill>
            <a:srgbClr val="FAEED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48840" y="509320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3806"/>
                </a:solidFill>
              </a:rPr>
              <a:t>⚠  JKL-321 ingresó a zona restringida — Av. La Marina · hace 2 min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965960" y="5413248"/>
            <a:ext cx="6126480" cy="256032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57400" y="5449824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2057400" y="54498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A5568"/>
                </a:solidFill>
              </a:rPr>
              <a:t>Todas las zonas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566160" y="5449824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3566160" y="54498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A5568"/>
                </a:solidFill>
              </a:rPr>
              <a:t>Geocercas activas: 4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074920" y="5449824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5074920" y="54498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A5568"/>
                </a:solidFill>
              </a:rPr>
              <a:t>Alertas hoy: 7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6583680" y="5449824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6583680" y="54498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A5568"/>
                </a:solidFill>
              </a:rPr>
              <a:t>Vehículos fuera de zona: 1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832104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E"/>
                </a:solidFill>
              </a:rPr>
              <a:t>Puntos clave — GPS Web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13533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94192" y="14081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Mapa Mapbox con WebSocket Supabase Realtime — actualización cada 5 seg.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321040" y="20391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94192" y="20939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Sidebar filtrable: propios vs proveedores, por estado (activo/alerta/sin señal).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321040" y="27249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94192" y="27797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Panel detalle al clic: velocidad, conductor, km del día, ralentí, última posición.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321040" y="34107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94192" y="34655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Alerta strip en tiempo real: geocercas, exceso velocidad, zona restringida.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321040" y="40965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94192" y="41513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Supervisor ve solo sus teams. Coordinador ve toda la región.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8321040" y="47823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94192" y="48371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Geocercas configurables — polígonos con alerta de entrada y salida.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3B6D1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WEB · MANTENIMIENTO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B4E"/>
                </a:solidFill>
              </a:rPr>
              <a:t>Dashboard Mantenimiento Preventivo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7772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7772400" cy="292608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BA8B5"/>
                </a:solidFill>
              </a:rPr>
              <a:t>● ● ●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FlotaOS Admin · Mantenimiento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371600"/>
            <a:ext cx="54864" cy="640080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4081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E"/>
                </a:solidFill>
              </a:rPr>
              <a:t>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Flota operativa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295144" y="13716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95144" y="1371600"/>
            <a:ext cx="54864" cy="64008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14081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E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04872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En mantenimiento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78808" y="13716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78808" y="1371600"/>
            <a:ext cx="54864" cy="640080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88536" y="14081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E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88536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Vencidos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062472" y="13716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62472" y="1371600"/>
            <a:ext cx="54864" cy="640080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4081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E"/>
                </a:solidFill>
              </a:rPr>
              <a:t>S/4,680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2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Ahorro IA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11480" y="2121408"/>
            <a:ext cx="4846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1945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B4E"/>
                </a:solidFill>
              </a:rPr>
              <a:t>Alertas de proximidad — Top 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2423160"/>
            <a:ext cx="4846320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2441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A5568"/>
                </a:solidFill>
              </a:rPr>
              <a:t>Vehículo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399032" y="24414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A5568"/>
                </a:solidFill>
              </a:rPr>
              <a:t>Elemento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770632" y="24414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A5568"/>
                </a:solidFill>
              </a:rPr>
              <a:t>Km actual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502152" y="24414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A5568"/>
                </a:solidFill>
              </a:rPr>
              <a:t>Estado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233672" y="24414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A5568"/>
                </a:solidFill>
              </a:rPr>
              <a:t>Urgencia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11480" y="2670048"/>
            <a:ext cx="4846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27614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ABC-123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399032" y="27614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</a:rPr>
              <a:t>Aceite 5W-30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770632" y="27614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</a:rPr>
              <a:t>87,450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10712" y="2761488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FCEBEB"/>
          </a:solidFill>
          <a:ln/>
        </p:spPr>
      </p:sp>
      <p:sp>
        <p:nvSpPr>
          <p:cNvPr id="38" name="Text 36"/>
          <p:cNvSpPr/>
          <p:nvPr/>
        </p:nvSpPr>
        <p:spPr>
          <a:xfrm>
            <a:off x="3410712" y="27614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91F1F"/>
                </a:solidFill>
              </a:rPr>
              <a:t>VENCIDO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11480" y="3054096"/>
            <a:ext cx="4846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31455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JKL-321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399032" y="3145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</a:rPr>
              <a:t>Filtro combustible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770632" y="31455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</a:rPr>
              <a:t>33,540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410712" y="3145536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FCEBEB"/>
          </a:solidFill>
          <a:ln/>
        </p:spPr>
      </p:sp>
      <p:sp>
        <p:nvSpPr>
          <p:cNvPr id="44" name="Text 42"/>
          <p:cNvSpPr/>
          <p:nvPr/>
        </p:nvSpPr>
        <p:spPr>
          <a:xfrm>
            <a:off x="3410712" y="3145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91F1F"/>
                </a:solidFill>
              </a:rPr>
              <a:t>VENCIDO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11480" y="3438144"/>
            <a:ext cx="4846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" y="3529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DEF-456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399032" y="35295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</a:rPr>
              <a:t>Rotación neumáticos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770632" y="352958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</a:rPr>
              <a:t>44,680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410712" y="3529584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FAEEDA"/>
          </a:solidFill>
          <a:ln/>
        </p:spPr>
      </p:sp>
      <p:sp>
        <p:nvSpPr>
          <p:cNvPr id="50" name="Text 48"/>
          <p:cNvSpPr/>
          <p:nvPr/>
        </p:nvSpPr>
        <p:spPr>
          <a:xfrm>
            <a:off x="3410712" y="35295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33806"/>
                </a:solidFill>
              </a:rPr>
              <a:t>-320 km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411480" y="3822192"/>
            <a:ext cx="4846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" y="3913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MNO-654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399032" y="39136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</a:rPr>
              <a:t>Frenos delanteros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770632" y="39136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</a:rPr>
              <a:t>59,520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410712" y="3913632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FAEEDA"/>
          </a:solidFill>
          <a:ln/>
        </p:spPr>
      </p:sp>
      <p:sp>
        <p:nvSpPr>
          <p:cNvPr id="56" name="Text 54"/>
          <p:cNvSpPr/>
          <p:nvPr/>
        </p:nvSpPr>
        <p:spPr>
          <a:xfrm>
            <a:off x="3410712" y="39136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33806"/>
                </a:solidFill>
              </a:rPr>
              <a:t>-480 km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11480" y="4206240"/>
            <a:ext cx="4846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" y="42976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GHI-789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399032" y="42976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</a:rPr>
              <a:t>Aceite 5W-30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770632" y="429768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</a:rPr>
              <a:t>61,300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410712" y="4297680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EAF3DE"/>
          </a:solidFill>
          <a:ln/>
        </p:spPr>
      </p:sp>
      <p:sp>
        <p:nvSpPr>
          <p:cNvPr id="62" name="Text 60"/>
          <p:cNvSpPr/>
          <p:nvPr/>
        </p:nvSpPr>
        <p:spPr>
          <a:xfrm>
            <a:off x="3410712" y="42976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7500A"/>
                </a:solidFill>
              </a:rPr>
              <a:t>+1,200 km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5349240" y="2121408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40680" y="21945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Leak Detector — Prev vs Correctivo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440680" y="24871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ABC-123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6126480" y="2523744"/>
            <a:ext cx="164592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27648" y="2523744"/>
            <a:ext cx="699516" cy="109728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40680" y="2898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VWX-741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6126480" y="2935224"/>
            <a:ext cx="123444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86500" y="2935224"/>
            <a:ext cx="592531" cy="109728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40680" y="33101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JKL-321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6126480" y="3346704"/>
            <a:ext cx="148133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11189" y="3346704"/>
            <a:ext cx="526694" cy="109728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40680" y="37216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DEF-456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6126480" y="3758184"/>
            <a:ext cx="411480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574536" y="3758184"/>
            <a:ext cx="230429" cy="109728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40680" y="41330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GHI-789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6126480" y="4169664"/>
            <a:ext cx="370332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33388" y="4169664"/>
            <a:ext cx="131674" cy="109728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49240" y="4937760"/>
            <a:ext cx="2606040" cy="320040"/>
          </a:xfrm>
          <a:prstGeom prst="rect">
            <a:avLst/>
          </a:prstGeom>
          <a:solidFill>
            <a:srgbClr val="FCEB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40680" y="49834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2D2D"/>
                </a:solidFill>
              </a:rPr>
              <a:t>Pérdida estimada: S/ 4,680 evitables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32104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E"/>
                </a:solidFill>
              </a:rPr>
              <a:t>Puntos clave — Mantenimiento Web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321040" y="13533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94192" y="14081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Donut de salud: % flota operativa / en mantenimiento / crítica. Actualización diaria.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321040" y="20391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394192" y="20939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Alertas de proximidad con semáforo: verde (+1,000km), ámbar (&lt;500km), rojo (vencido).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8321040" y="27249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94192" y="27797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Leak Detector: compara costo preventivo vs correctivo. Cuantifica pérdida evitable.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8321040" y="34107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94192" y="34655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Genera OT digital automáticamente con lista de repuestos y procedimientos SOP.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8321040" y="40965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94192" y="41513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Calendario de citas mensual para programar sin cuellos de botella en el taller.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8321040" y="47823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394192" y="48371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IA predictiva (Claude API): analiza sensores y sugiere intervención antes de la falla.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A32D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WEB · KPIs &amp; CAJA CHICA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B4E"/>
                </a:solidFill>
              </a:rPr>
              <a:t>Dashboard KPIs Gerenciales &amp; Caja Chica Regional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7772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7772400" cy="292608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BA8B5"/>
                </a:solidFill>
              </a:rPr>
              <a:t>● ● ●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FlotaOS Admin · KPIs &amp; Caja Chica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1408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4E"/>
                </a:solidFill>
              </a:rPr>
              <a:t>S/ 1.84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" y="1673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Costo por km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92808" y="14081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2D2D"/>
                </a:solidFill>
              </a:rPr>
              <a:t>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95144" y="13716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68296" y="1408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4E"/>
                </a:solidFill>
              </a:rPr>
              <a:t>9.1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68296" y="1673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Km/L promedio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76472" y="14081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6D11"/>
                </a:solidFill>
              </a:rPr>
              <a:t>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78808" y="13716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51960" y="1408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4E"/>
                </a:solidFill>
              </a:rPr>
              <a:t>87%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51960" y="1673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Disponibilidad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0136" y="14081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2D2D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62472" y="13716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35624" y="1408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B4E"/>
                </a:solidFill>
              </a:rPr>
              <a:t>2.1 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35624" y="1673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MTTR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543800" y="14081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6D11"/>
                </a:solidFill>
              </a:rPr>
              <a:t>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2121408"/>
            <a:ext cx="3291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1945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2B4E"/>
                </a:solidFill>
              </a:rPr>
              <a:t>Costo/km — últimas 8 semanas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21208" y="2606040"/>
            <a:ext cx="292608" cy="704088"/>
          </a:xfrm>
          <a:prstGeom prst="rect">
            <a:avLst/>
          </a:prstGeom>
          <a:solidFill>
            <a:srgbClr val="185FA5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3467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</a:rPr>
              <a:t>S1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914400" y="2516429"/>
            <a:ext cx="292608" cy="793699"/>
          </a:xfrm>
          <a:prstGeom prst="rect">
            <a:avLst/>
          </a:prstGeom>
          <a:solidFill>
            <a:srgbClr val="185FA5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3467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</a:rPr>
              <a:t>S2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1307592" y="2695651"/>
            <a:ext cx="292608" cy="614477"/>
          </a:xfrm>
          <a:prstGeom prst="rect">
            <a:avLst/>
          </a:prstGeom>
          <a:solidFill>
            <a:srgbClr val="185FA5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33467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</a:rPr>
              <a:t>S3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1700784" y="2414016"/>
            <a:ext cx="292608" cy="896112"/>
          </a:xfrm>
          <a:prstGeom prst="rect">
            <a:avLst/>
          </a:prstGeom>
          <a:solidFill>
            <a:srgbClr val="185FA5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00784" y="33467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</a:rPr>
              <a:t>S4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093976" y="2478024"/>
            <a:ext cx="292608" cy="832104"/>
          </a:xfrm>
          <a:prstGeom prst="rect">
            <a:avLst/>
          </a:prstGeom>
          <a:solidFill>
            <a:srgbClr val="185FA5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93976" y="33467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</a:rPr>
              <a:t>S5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2487168" y="2567635"/>
            <a:ext cx="292608" cy="742493"/>
          </a:xfrm>
          <a:prstGeom prst="rect">
            <a:avLst/>
          </a:prstGeom>
          <a:solidFill>
            <a:srgbClr val="185FA5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87168" y="33467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</a:rPr>
              <a:t>S6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2880360" y="2388413"/>
            <a:ext cx="292608" cy="921715"/>
          </a:xfrm>
          <a:prstGeom prst="rect">
            <a:avLst/>
          </a:prstGeom>
          <a:solidFill>
            <a:srgbClr val="185FA5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33467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</a:rPr>
              <a:t>S7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3273552" y="2286000"/>
            <a:ext cx="292608" cy="1024128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33467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</a:rPr>
              <a:t>S8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886200" y="2121408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7764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B4E"/>
                </a:solidFill>
              </a:rPr>
              <a:t>Caja Chica — 4 Regiones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977640" y="25054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Áncash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937760" y="2532888"/>
            <a:ext cx="2286000" cy="91440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2532888"/>
            <a:ext cx="1783080" cy="91440"/>
          </a:xfrm>
          <a:prstGeom prst="rect">
            <a:avLst/>
          </a:prstGeom>
          <a:solidFill>
            <a:srgbClr val="378A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250545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F2B4E"/>
                </a:solidFill>
              </a:rPr>
              <a:t>S/15.8K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977640" y="28895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San Martín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937760" y="2916936"/>
            <a:ext cx="2286000" cy="91440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37760" y="2916936"/>
            <a:ext cx="1325880" cy="91440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28895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F2B4E"/>
                </a:solidFill>
              </a:rPr>
              <a:t>S/11.8K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977640" y="32735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La Libertad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937760" y="3300984"/>
            <a:ext cx="2286000" cy="91440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0" y="3300984"/>
            <a:ext cx="1074420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0" y="32735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F2B4E"/>
                </a:solidFill>
              </a:rPr>
              <a:t>S/9.5K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977640" y="36576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Arequipa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937760" y="3685032"/>
            <a:ext cx="2286000" cy="91440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37760" y="3685032"/>
            <a:ext cx="1257300" cy="91440"/>
          </a:xfrm>
          <a:prstGeom prst="rect">
            <a:avLst/>
          </a:prstGeom>
          <a:solidFill>
            <a:srgbClr val="D85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36576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F2B4E"/>
                </a:solidFill>
              </a:rPr>
              <a:t>S/11.2K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11480" y="4407408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48056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B4E"/>
                </a:solidFill>
              </a:rPr>
              <a:t>Resumen ejecutivo semanal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02920" y="4736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Total km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645920" y="4736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4,820 km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971800" y="4736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Combustible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114800" y="4736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530L · S/3,391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440680" y="4736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Mantenimiento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583680" y="4736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S/1,240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02920" y="5010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Infracciones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645920" y="5010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3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971800" y="5010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En taller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114800" y="5010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1 veh.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440680" y="5010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Ahorro IA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583680" y="5010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B4E"/>
                </a:solidFill>
              </a:rPr>
              <a:t>S/2,080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832104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E"/>
                </a:solidFill>
              </a:rPr>
              <a:t>Puntos clave — KPIs &amp; Caja Chica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321040" y="13533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94192" y="14081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4 KPIs en tiempo real: costo/km, km/L, disponibilidad mecánica, MTTR.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321040" y="20391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94192" y="20939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Gráfico histórico de costo/km por semana para identificar tendencias.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321040" y="27249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94192" y="27797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Caja chica por región con barras proporcionales y totales en tiempo real.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8321040" y="34107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94192" y="34655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Resumen ejecutivo semanal exportable a PDF automáticamente los lunes.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321040" y="40965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94192" y="41513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Roles diferenciados: supervisor ve sus teams, coordinador ve toda la región.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321040" y="4782312"/>
            <a:ext cx="3566160" cy="566928"/>
          </a:xfrm>
          <a:prstGeom prst="rect">
            <a:avLst/>
          </a:prstGeom>
          <a:solidFill>
            <a:srgbClr val="EBF4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94192" y="4837176"/>
            <a:ext cx="3419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Alertas de KPI: si costo/km supera umbral → notificación automática al director.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F2B4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ARQUITECTURA DE ROLES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B4E"/>
                </a:solidFill>
              </a:rPr>
              <a:t>Roles, Permisos y Acceso a la Información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3749040" cy="384048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42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Driver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09728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097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App Móvil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29768" y="1554480"/>
            <a:ext cx="109728" cy="10972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179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Ve solo SU vehículo asignado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768" y="1956816"/>
            <a:ext cx="109728" cy="10972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02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Registra eventos de viaje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9768" y="2359152"/>
            <a:ext cx="109728" cy="10972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225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NO ve otros conductores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" y="2761488"/>
            <a:ext cx="109728" cy="10972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249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NO ve datos financieros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51960" y="100584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005840"/>
            <a:ext cx="3749040" cy="384048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1042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Técnico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09728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97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App Móvil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361688" y="1554480"/>
            <a:ext cx="109728" cy="109728"/>
          </a:xfrm>
          <a:prstGeom prst="ellipse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15179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Ve tareas de SU team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61688" y="1956816"/>
            <a:ext cx="109728" cy="109728"/>
          </a:xfrm>
          <a:prstGeom prst="ellipse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19202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Registra tareas de nodo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61688" y="2359152"/>
            <a:ext cx="109728" cy="109728"/>
          </a:xfrm>
          <a:prstGeom prst="ellipse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23225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Registra gastos de campo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61688" y="2761488"/>
            <a:ext cx="109728" cy="109728"/>
          </a:xfrm>
          <a:prstGeom prst="ellipse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7249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Fuerza mayor con 3 fotos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183880" y="100584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83880" y="1005840"/>
            <a:ext cx="3749040" cy="384048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3608" y="1042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Supervisor de Zona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789920" y="109728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0" y="1097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Web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293608" y="1554480"/>
            <a:ext cx="109728" cy="10972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15179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Ve SOLO sus teams asignados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93608" y="1956816"/>
            <a:ext cx="109728" cy="10972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58200" y="19202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Recibe alertas de sus teams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93608" y="2359152"/>
            <a:ext cx="109728" cy="10972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58200" y="23225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Programa tareas del día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293608" y="2761488"/>
            <a:ext cx="109728" cy="10972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58200" y="27249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Aprueba caja chica de su zona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35661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3566160"/>
            <a:ext cx="3749040" cy="384048"/>
          </a:xfrm>
          <a:prstGeom prst="rect">
            <a:avLst/>
          </a:prstGeom>
          <a:solidFill>
            <a:srgbClr val="D85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" y="3602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Coordinador Regional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26080" y="365760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926080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Web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29768" y="4114800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0782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Ve TODOS los teams de la región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29768" y="4517136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4480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Dashboard completo regional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29768" y="4919472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882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Gestión de caja chica regional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29768" y="5321808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52852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Reportes y KPIs de la región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51960" y="35661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251960" y="3566160"/>
            <a:ext cx="3749040" cy="384048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61688" y="3602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Asistente Regional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858000" y="365760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0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Web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361688" y="4114800"/>
            <a:ext cx="109728" cy="10972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26280" y="40782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Misma vista que coordinador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61688" y="4517136"/>
            <a:ext cx="109728" cy="10972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26280" y="4480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Apoya gestión de caja chica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361688" y="4919472"/>
            <a:ext cx="109728" cy="10972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26280" y="4882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Gestiona reembolsos regional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61688" y="5321808"/>
            <a:ext cx="109728" cy="10972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26280" y="52852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Sin permisos de aprobación final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183880" y="35661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183880" y="3566160"/>
            <a:ext cx="3749040" cy="384048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93608" y="3602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Director OSC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789920" y="365760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0789920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Web + Dashboard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8293608" y="4114800"/>
            <a:ext cx="109728" cy="109728"/>
          </a:xfrm>
          <a:prstGeom prst="ellipse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58200" y="40782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Vista de las 4 regiones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293608" y="4517136"/>
            <a:ext cx="109728" cy="109728"/>
          </a:xfrm>
          <a:prstGeom prst="ellipse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58200" y="4480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KPIs globales de flota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293608" y="4919472"/>
            <a:ext cx="109728" cy="109728"/>
          </a:xfrm>
          <a:prstGeom prst="ellipse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58200" y="4882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Aprobación final reembolsos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8293608" y="5321808"/>
            <a:ext cx="109728" cy="109728"/>
          </a:xfrm>
          <a:prstGeom prst="ellipse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58200" y="52852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Acceso a todos los reportes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61520" cy="1828800"/>
          </a:xfrm>
          <a:prstGeom prst="rect">
            <a:avLst/>
          </a:prstGeom>
          <a:solidFill>
            <a:srgbClr val="185FA5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DC3F0"/>
                </a:solidFill>
              </a:rPr>
              <a:t>Roadmap de implementación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v0.1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143000" y="1714500"/>
            <a:ext cx="1325880" cy="0"/>
          </a:xfrm>
          <a:prstGeom prst="line">
            <a:avLst/>
          </a:prstGeom>
          <a:noFill/>
          <a:ln w="12700">
            <a:solidFill>
              <a:srgbClr val="9DC3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8288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DC3F0"/>
                </a:solidFill>
              </a:rPr>
              <a:t>BD + Auth + CRUD Vehículos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502920" cy="50292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v0.2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971800" y="1714500"/>
            <a:ext cx="1325880" cy="0"/>
          </a:xfrm>
          <a:prstGeom prst="line">
            <a:avLst/>
          </a:prstGeom>
          <a:noFill/>
          <a:ln w="12700">
            <a:solidFill>
              <a:srgbClr val="9DC3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01168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DC3F0"/>
                </a:solidFill>
              </a:rPr>
              <a:t>GPS Tiempo Real + App Driver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97680" y="1463040"/>
            <a:ext cx="502920" cy="50292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v0.3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800600" y="1714500"/>
            <a:ext cx="1325880" cy="0"/>
          </a:xfrm>
          <a:prstGeom prst="line">
            <a:avLst/>
          </a:prstGeom>
          <a:noFill/>
          <a:ln w="12700">
            <a:solidFill>
              <a:srgbClr val="9DC3F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84048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DC3F0"/>
                </a:solidFill>
              </a:rPr>
              <a:t>Mantenimiento + Checklist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502920" cy="502920"/>
          </a:xfrm>
          <a:prstGeom prst="ellipse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v0.4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629400" y="1714500"/>
            <a:ext cx="1325880" cy="0"/>
          </a:xfrm>
          <a:prstGeom prst="line">
            <a:avLst/>
          </a:prstGeom>
          <a:noFill/>
          <a:ln w="12700">
            <a:solidFill>
              <a:srgbClr val="9DC3F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66928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DC3F0"/>
                </a:solidFill>
              </a:rPr>
              <a:t>App Técnico + Gastos de Campo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955280" y="1463040"/>
            <a:ext cx="502920" cy="50292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v0.5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458200" y="1714500"/>
            <a:ext cx="1325880" cy="0"/>
          </a:xfrm>
          <a:prstGeom prst="line">
            <a:avLst/>
          </a:prstGeom>
          <a:noFill/>
          <a:ln w="12700">
            <a:solidFill>
              <a:srgbClr val="9DC3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49808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DC3F0"/>
                </a:solidFill>
              </a:rPr>
              <a:t>Caja Chica + Bóveda Documental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784080" y="1463040"/>
            <a:ext cx="502920" cy="50292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v1.0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32688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DC3F0"/>
                </a:solidFill>
              </a:rPr>
              <a:t>KPIs + Dashboard Gerencial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tecnológico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3337560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Next.js 14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48840" y="3337560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148840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TypeScript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66160" y="3337560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Supabase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83480" y="3337560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Expo RN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0" y="3337560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Mapbox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818120" y="3337560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818120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Claude API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235440" y="3337560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235440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Vercel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652760" y="3337560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652760" y="3337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Tailwind CSS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FlotaOS — YOFC Perú · 2026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C3F0"/>
                </a:solidFill>
              </a:rPr>
              <a:t>Sistema Integral de Gestión de Flotas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1846</Words>
  <Application>Microsoft Office PowerPoint</Application>
  <PresentationFormat>Panorámica</PresentationFormat>
  <Paragraphs>512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FlotaOS — Diseño de Interfaces</dc:title>
  <dc:subject>PptxGenJS Presentation</dc:subject>
  <dc:creator>PptxGenJS</dc:creator>
  <cp:lastModifiedBy>NINGMEI</cp:lastModifiedBy>
  <cp:revision>2</cp:revision>
  <dcterms:created xsi:type="dcterms:W3CDTF">2026-05-21T17:39:19Z</dcterms:created>
  <dcterms:modified xsi:type="dcterms:W3CDTF">2026-06-04T16:56:29Z</dcterms:modified>
</cp:coreProperties>
</file>
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185FA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0"/>
            <a:ext cx="3017520" cy="6858000"/>
          </a:xfrm>
          <a:prstGeom prst="rect">
            <a:avLst/>
          </a:prstGeom>
          <a:solidFill>
            <a:srgbClr val="185FA5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FlotaOS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C3F0"/>
                </a:solidFill>
              </a:rPr>
              <a:t>Estructuras de Base de Datos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8B5"/>
                </a:solidFill>
              </a:rPr>
              <a:t>Modelo relacional vinculado a cada ventana del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 Driver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338328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 Técnico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Pagos Campo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338328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Web GPS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Web Mantenimiento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0" y="37490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Web KPIs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Caja Chica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66560" y="37490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85FA5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Roles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8B5"/>
                </a:solidFill>
              </a:rPr>
              <a:t>Supabase PostgreSQL · Row Level Security · 24 tablas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A8B5"/>
                </a:solidFill>
              </a:rPr>
              <a:t>Mayo 2026 — YOFC Perú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E"/>
                </a:solidFill>
              </a:rPr>
              <a:t>Mapa Global — 24 Tablas del Sistema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Todas las tablas organizadas por módulo, con sus relaciones principales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8346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834640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1440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93192" y="1207008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243584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93192" y="1463040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49961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3192" y="1719072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755648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providers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93192" y="1975104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011680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8346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914400"/>
            <a:ext cx="2834640" cy="256032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91440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M1 · GPS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64992" y="1207008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243584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gps_tracks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64992" y="1463040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149961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geofences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364992" y="1719072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1755648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geofence_events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64992" y="1975104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2011680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checklist_submissions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9224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914400"/>
            <a:ext cx="2743200" cy="256032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9144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M2 · MANTENIMIENTO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65392" y="1207008"/>
            <a:ext cx="259689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1243584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catalogo_mantenimiento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565392" y="1463040"/>
            <a:ext cx="259689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149961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plan_mantenimiento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565392" y="1719072"/>
            <a:ext cx="259689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1755648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maintenance_records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565392" y="1975104"/>
            <a:ext cx="259689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011680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ordenes_trabajo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565392" y="2231136"/>
            <a:ext cx="259689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2267712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spare_parts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0040" y="3749040"/>
            <a:ext cx="28346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749040"/>
            <a:ext cx="2834640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74904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M3 · COMBUSTIBLE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93192" y="4041648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" y="4078224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fuel_records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93192" y="4297680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" y="433425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fuel_anomalies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93192" y="4553712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4590288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idle_records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93192" y="4809744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" y="4846320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fuel_cards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91840" y="3749040"/>
            <a:ext cx="283464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91840" y="3749040"/>
            <a:ext cx="2834640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374904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M4 · CONDUCTORES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64992" y="4041648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4078224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driving_events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364992" y="4297680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9856" y="433425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driver_scores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364992" y="4553712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9856" y="4590288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fatigue_records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364992" y="4809744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9856" y="4846320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driver_rewards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63640" y="3749040"/>
            <a:ext cx="283464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63640" y="3749040"/>
            <a:ext cx="2834640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6792" y="374904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M5 · DOCUMENTOS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336792" y="4041648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91656" y="4078224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fleet_documents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336792" y="4297680"/>
            <a:ext cx="268833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91656" y="433425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document_alerts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336792" y="4553712"/>
            <a:ext cx="268833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91656" y="4590288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rental_contracts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778240" y="3749040"/>
            <a:ext cx="269748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778240" y="3749040"/>
            <a:ext cx="2697480" cy="256032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51392" y="374904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M6 · KPIs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851392" y="4041648"/>
            <a:ext cx="255117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06256" y="4078224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kpi_snapshots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8851392" y="4297680"/>
            <a:ext cx="25511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06256" y="4334256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fleet_summaries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8851392" y="4553712"/>
            <a:ext cx="255117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06256" y="4590288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reports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144000" y="914400"/>
            <a:ext cx="269748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9144000" y="914400"/>
            <a:ext cx="2697480" cy="256032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17152" y="91440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CAJA CHICA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217152" y="1207008"/>
            <a:ext cx="255117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72016" y="1243584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petty_cash_transactions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217152" y="1463040"/>
            <a:ext cx="25511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72016" y="1499616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petty_cash_accounts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9217152" y="1719072"/>
            <a:ext cx="2551176" cy="201168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272016" y="1755648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reimbursement_batches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9217152" y="1975104"/>
            <a:ext cx="25511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72016" y="2011680"/>
            <a:ext cx="2441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petty_cash_ledger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320040" y="649224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vehicles &amp; drivers son las tablas centrales — referenciadas por todos los módulos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· TABLAS CENTRALES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E"/>
                </a:solidFill>
              </a:rPr>
              <a:t>vehicles · drivers · providers · staff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vehicles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31673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5331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533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3441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56232" y="134416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51790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4533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plate_number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56232" y="15453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varchar(8) UNIQUE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38328" y="171907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4650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brand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56232" y="174650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38328" y="192024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476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model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56232" y="194767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38328" y="212140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1488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year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56232" y="214884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38328" y="232257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5000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vehicle_type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856232" y="235000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(own|rented)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38328" y="252374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5117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856232" y="255117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38328" y="272491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75234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fuel_type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856232" y="275234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38328" y="292608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5351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current_km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856232" y="295351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38328" y="312724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5468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horometro_actual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56232" y="315468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38328" y="33284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33649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374904" y="33649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612648" y="33558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provider_id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856232" y="33558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38328" y="35295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5570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856232" y="35570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291840" y="1005840"/>
            <a:ext cx="2743200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drivers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91840" y="1280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10128" y="131673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46704" y="135331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53" name="Text 51"/>
          <p:cNvSpPr/>
          <p:nvPr/>
        </p:nvSpPr>
        <p:spPr>
          <a:xfrm>
            <a:off x="3346704" y="13533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584448" y="13441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28032" y="134416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3310128" y="151790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46704" y="155448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58" name="Text 56"/>
          <p:cNvSpPr/>
          <p:nvPr/>
        </p:nvSpPr>
        <p:spPr>
          <a:xfrm>
            <a:off x="3346704" y="155448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3584448" y="154533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user_id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28032" y="15453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310128" y="171907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174650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full_name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828032" y="174650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310128" y="192024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0" y="19476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dni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828032" y="194767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varchar(8) UNIQUE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310128" y="212140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21488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license_number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828032" y="214884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310128" y="232257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0" y="235000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license_expiry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828032" y="235000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310128" y="252374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83280" y="255117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license_category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828032" y="255117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varchar(5)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310128" y="272491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83280" y="275234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medical_cert_expiry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828032" y="275234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310128" y="292608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83280" y="295351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score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828032" y="295351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 (0-100)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3310128" y="312724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46704" y="3163824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84" name="Text 82"/>
          <p:cNvSpPr/>
          <p:nvPr/>
        </p:nvSpPr>
        <p:spPr>
          <a:xfrm>
            <a:off x="3346704" y="316382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85" name="Text 83"/>
          <p:cNvSpPr/>
          <p:nvPr/>
        </p:nvSpPr>
        <p:spPr>
          <a:xfrm>
            <a:off x="3584448" y="315468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assigned_vehicle_id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828032" y="315468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310128" y="33284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383280" y="33558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828032" y="33558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6263640" y="1005840"/>
            <a:ext cx="256032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5508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providers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263640" y="1280160"/>
            <a:ext cx="25603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81928" y="131673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8504" y="135331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95" name="Text 93"/>
          <p:cNvSpPr/>
          <p:nvPr/>
        </p:nvSpPr>
        <p:spPr>
          <a:xfrm>
            <a:off x="6318504" y="13533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6556248" y="134416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7697419" y="134416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6281928" y="151790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55080" y="154533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company_name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697419" y="154533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6281928" y="171907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55080" y="174650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ruc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697419" y="174650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varchar(11) UNIQUE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281928" y="192024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55080" y="194767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contact_name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697419" y="194767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281928" y="212140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55080" y="214884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contact_phone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7697419" y="214884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varchar(20)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6281928" y="2322576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55080" y="235000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contact_email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7697419" y="235000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6281928" y="2523744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355080" y="255117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7697419" y="255117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281928" y="2724912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355080" y="275234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7697419" y="275234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9052560" y="1005840"/>
            <a:ext cx="278892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44000" y="1005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staff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9052560" y="1280160"/>
            <a:ext cx="2788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70848" y="1316736"/>
            <a:ext cx="27523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107424" y="135331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24" name="Text 122"/>
          <p:cNvSpPr/>
          <p:nvPr/>
        </p:nvSpPr>
        <p:spPr>
          <a:xfrm>
            <a:off x="9107424" y="13533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9345168" y="1344168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10614355" y="1344168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9070848" y="1517904"/>
            <a:ext cx="27523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107424" y="155448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29" name="Text 127"/>
          <p:cNvSpPr/>
          <p:nvPr/>
        </p:nvSpPr>
        <p:spPr>
          <a:xfrm>
            <a:off x="9107424" y="155448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30" name="Text 128"/>
          <p:cNvSpPr/>
          <p:nvPr/>
        </p:nvSpPr>
        <p:spPr>
          <a:xfrm>
            <a:off x="9345168" y="1545336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user_id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10614355" y="1545336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9070848" y="1719072"/>
            <a:ext cx="27523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144000" y="1746504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full_name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10614355" y="1746504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9070848" y="1920240"/>
            <a:ext cx="27523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144000" y="1947672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email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10614355" y="1947672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9070848" y="2121408"/>
            <a:ext cx="27523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107424" y="2157984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40" name="Text 138"/>
          <p:cNvSpPr/>
          <p:nvPr/>
        </p:nvSpPr>
        <p:spPr>
          <a:xfrm>
            <a:off x="9107424" y="215798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41" name="Text 139"/>
          <p:cNvSpPr/>
          <p:nvPr/>
        </p:nvSpPr>
        <p:spPr>
          <a:xfrm>
            <a:off x="9345168" y="2148840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10614355" y="2148840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9070848" y="2322576"/>
            <a:ext cx="27523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144000" y="2350008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role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10614355" y="2350008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9070848" y="2523744"/>
            <a:ext cx="27523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07424" y="256032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48" name="Text 146"/>
          <p:cNvSpPr/>
          <p:nvPr/>
        </p:nvSpPr>
        <p:spPr>
          <a:xfrm>
            <a:off x="9107424" y="256032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49" name="Text 147"/>
          <p:cNvSpPr/>
          <p:nvPr/>
        </p:nvSpPr>
        <p:spPr>
          <a:xfrm>
            <a:off x="9345168" y="2551176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team_id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10614355" y="2551176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9070848" y="2724912"/>
            <a:ext cx="27523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144000" y="2752344"/>
            <a:ext cx="11713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10614355" y="2752344"/>
            <a:ext cx="11539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320040" y="5577840"/>
            <a:ext cx="11521440" cy="548640"/>
          </a:xfrm>
          <a:prstGeom prst="rect">
            <a:avLst/>
          </a:prstGeom>
          <a:solidFill>
            <a:srgbClr val="E0F5EF"/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7200" y="5623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B56"/>
                </a:solidFill>
              </a:rPr>
              <a:t>🔒  Row Level Security (RLS) habilitado en TODAS las tablas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457200" y="58155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vehicles: SELECT para authenticated · INSERT/UPDATE/DELETE solo para admin y fleet_manager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drivers: SELECT para authenticated · drivers pueden leer su propio perfil (user_id = auth.uid())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DRIVER · PANTALLA INICIO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E"/>
                </a:solidFill>
              </a:rPr>
              <a:t>gps_tracks · geofences · geofence_events · checklist_submissions · trip_events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560320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gps_tracks  (particionada por mes)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56032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53819" y="129844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bigserial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612648" y="149961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53819" y="149961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38328" y="167335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70078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53819" y="170078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38328" y="187452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0195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753819" y="190195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38328" y="207568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10312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speed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753819" y="210312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 (km/h)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38328" y="2276856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30428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heading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753819" y="230428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 (0-360°)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38328" y="2478024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50545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altitude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753819" y="250545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38328" y="2679192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70662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engine_on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753819" y="270662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8328" y="2880360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0779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recorded_at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753819" y="290779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 NOT NULL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063240" y="960120"/>
            <a:ext cx="274320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trip_events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63240" y="1234440"/>
            <a:ext cx="27432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8152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181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31181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35584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9943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08152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181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49" name="Text 47"/>
          <p:cNvSpPr/>
          <p:nvPr/>
        </p:nvSpPr>
        <p:spPr>
          <a:xfrm>
            <a:off x="31181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35584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9943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08152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181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54" name="Text 52"/>
          <p:cNvSpPr/>
          <p:nvPr/>
        </p:nvSpPr>
        <p:spPr>
          <a:xfrm>
            <a:off x="31181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335584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9943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08152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1810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59" name="Text 57"/>
          <p:cNvSpPr/>
          <p:nvPr/>
        </p:nvSpPr>
        <p:spPr>
          <a:xfrm>
            <a:off x="311810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3355848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trip_id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59943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08152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5468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event_type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9943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308152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5468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9943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308152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5468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9943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308152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5468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photo_url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59943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varchar(500)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08152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5468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notes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59943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308152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5468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is_force_majeure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59943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308152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54680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fm_type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459943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(nullable)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3081528" y="3483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54680" y="3511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fm_photos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599432" y="3511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(3 urls)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3081528" y="36850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54680" y="37124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recorded_at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599432" y="37124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989320" y="960120"/>
            <a:ext cx="256032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8076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trips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989320" y="1234440"/>
            <a:ext cx="25603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07608" y="127101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04418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94" name="Text 92"/>
          <p:cNvSpPr/>
          <p:nvPr/>
        </p:nvSpPr>
        <p:spPr>
          <a:xfrm>
            <a:off x="604418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6281928" y="129844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423099" y="129844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6007608" y="147218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4418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99" name="Text 97"/>
          <p:cNvSpPr/>
          <p:nvPr/>
        </p:nvSpPr>
        <p:spPr>
          <a:xfrm>
            <a:off x="604418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00" name="Text 98"/>
          <p:cNvSpPr/>
          <p:nvPr/>
        </p:nvSpPr>
        <p:spPr>
          <a:xfrm>
            <a:off x="6281928" y="149961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team_id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423099" y="149961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6007608" y="167335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4418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04" name="Text 102"/>
          <p:cNvSpPr/>
          <p:nvPr/>
        </p:nvSpPr>
        <p:spPr>
          <a:xfrm>
            <a:off x="604418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05" name="Text 103"/>
          <p:cNvSpPr/>
          <p:nvPr/>
        </p:nvSpPr>
        <p:spPr>
          <a:xfrm>
            <a:off x="6281928" y="170078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423099" y="170078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007608" y="187452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4418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09" name="Text 107"/>
          <p:cNvSpPr/>
          <p:nvPr/>
        </p:nvSpPr>
        <p:spPr>
          <a:xfrm>
            <a:off x="604418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10" name="Text 108"/>
          <p:cNvSpPr/>
          <p:nvPr/>
        </p:nvSpPr>
        <p:spPr>
          <a:xfrm>
            <a:off x="6281928" y="190195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423099" y="190195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6007608" y="207568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80760" y="210312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origin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7423099" y="210312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6007608" y="2276856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80760" y="230428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destination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423099" y="230428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6007608" y="2478024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80760" y="250545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node_code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7423099" y="250545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6007608" y="2679192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080760" y="270662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trip_date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7423099" y="270662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6007608" y="2880360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80760" y="290779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7423099" y="290779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6007608" y="3081528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080760" y="310896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started_at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7423099" y="310896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6007608" y="328269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80760" y="331012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completed_at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7423099" y="331012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6007608" y="348386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080760" y="351129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total_km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7423099" y="351129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decimal(8,2)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732520" y="960120"/>
            <a:ext cx="310896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82396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geofences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8732520" y="1234440"/>
            <a:ext cx="3108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750808" y="1271016"/>
            <a:ext cx="30723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78738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41" name="Text 139"/>
          <p:cNvSpPr/>
          <p:nvPr/>
        </p:nvSpPr>
        <p:spPr>
          <a:xfrm>
            <a:off x="878738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42" name="Text 140"/>
          <p:cNvSpPr/>
          <p:nvPr/>
        </p:nvSpPr>
        <p:spPr>
          <a:xfrm>
            <a:off x="9025128" y="1298448"/>
            <a:ext cx="1305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10473538" y="1298448"/>
            <a:ext cx="12947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8750808" y="1472184"/>
            <a:ext cx="30723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823960" y="1499616"/>
            <a:ext cx="1305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name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10473538" y="1499616"/>
            <a:ext cx="12947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8750808" y="1673352"/>
            <a:ext cx="30723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23960" y="1700784"/>
            <a:ext cx="1305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coordinates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10473538" y="1700784"/>
            <a:ext cx="12947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[[lng,lat]]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8750808" y="1874520"/>
            <a:ext cx="30723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823960" y="1901952"/>
            <a:ext cx="1305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alert_on_entry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10473538" y="1901952"/>
            <a:ext cx="12947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8750808" y="2075688"/>
            <a:ext cx="30723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823960" y="2103120"/>
            <a:ext cx="1305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alert_on_exit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10473538" y="2103120"/>
            <a:ext cx="12947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8750808" y="2276856"/>
            <a:ext cx="30723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823960" y="2304288"/>
            <a:ext cx="130576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10473538" y="2304288"/>
            <a:ext cx="12947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320040" y="3931920"/>
            <a:ext cx="2834640" cy="27432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1148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checklist_submissions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20040" y="4206240"/>
            <a:ext cx="28346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38328" y="4242816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74904" y="42793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64" name="Text 162"/>
          <p:cNvSpPr/>
          <p:nvPr/>
        </p:nvSpPr>
        <p:spPr>
          <a:xfrm>
            <a:off x="374904" y="42793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65" name="Text 163"/>
          <p:cNvSpPr/>
          <p:nvPr/>
        </p:nvSpPr>
        <p:spPr>
          <a:xfrm>
            <a:off x="612648" y="427024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1907438" y="427024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338328" y="4443984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74904" y="44805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69" name="Text 167"/>
          <p:cNvSpPr/>
          <p:nvPr/>
        </p:nvSpPr>
        <p:spPr>
          <a:xfrm>
            <a:off x="374904" y="44805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70" name="Text 168"/>
          <p:cNvSpPr/>
          <p:nvPr/>
        </p:nvSpPr>
        <p:spPr>
          <a:xfrm>
            <a:off x="612648" y="447141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71" name="Text 169"/>
          <p:cNvSpPr/>
          <p:nvPr/>
        </p:nvSpPr>
        <p:spPr>
          <a:xfrm>
            <a:off x="1907438" y="447141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338328" y="4645152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74904" y="46817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74" name="Text 172"/>
          <p:cNvSpPr/>
          <p:nvPr/>
        </p:nvSpPr>
        <p:spPr>
          <a:xfrm>
            <a:off x="374904" y="46817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75" name="Text 173"/>
          <p:cNvSpPr/>
          <p:nvPr/>
        </p:nvSpPr>
        <p:spPr>
          <a:xfrm>
            <a:off x="612648" y="467258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76" name="Text 174"/>
          <p:cNvSpPr/>
          <p:nvPr/>
        </p:nvSpPr>
        <p:spPr>
          <a:xfrm>
            <a:off x="1907438" y="467258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338328" y="4846320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74904" y="48828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79" name="Text 177"/>
          <p:cNvSpPr/>
          <p:nvPr/>
        </p:nvSpPr>
        <p:spPr>
          <a:xfrm>
            <a:off x="374904" y="48828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80" name="Text 178"/>
          <p:cNvSpPr/>
          <p:nvPr/>
        </p:nvSpPr>
        <p:spPr>
          <a:xfrm>
            <a:off x="612648" y="4873752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trip_id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1907438" y="4873752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338328" y="5047488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11480" y="5074920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items_json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07438" y="5074920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(item+status+foto)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38328" y="5248656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11480" y="527608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has_issues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1907438" y="527608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338328" y="5449824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11480" y="547725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vehicle_blocked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1907438" y="547725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338328" y="5650992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11480" y="567842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submitted_at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1907438" y="567842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3337560" y="3931920"/>
            <a:ext cx="2651760" cy="27432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4290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geofence_events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3337560" y="4206240"/>
            <a:ext cx="265176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355848" y="424281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392424" y="42793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99" name="Text 197"/>
          <p:cNvSpPr/>
          <p:nvPr/>
        </p:nvSpPr>
        <p:spPr>
          <a:xfrm>
            <a:off x="3392424" y="42793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200" name="Text 198"/>
          <p:cNvSpPr/>
          <p:nvPr/>
        </p:nvSpPr>
        <p:spPr>
          <a:xfrm>
            <a:off x="3630168" y="427024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4822546" y="427024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3355848" y="444398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392424" y="44805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04" name="Text 202"/>
          <p:cNvSpPr/>
          <p:nvPr/>
        </p:nvSpPr>
        <p:spPr>
          <a:xfrm>
            <a:off x="3392424" y="44805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05" name="Text 203"/>
          <p:cNvSpPr/>
          <p:nvPr/>
        </p:nvSpPr>
        <p:spPr>
          <a:xfrm>
            <a:off x="3630168" y="447141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822546" y="447141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3355848" y="464515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392424" y="46817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09" name="Text 207"/>
          <p:cNvSpPr/>
          <p:nvPr/>
        </p:nvSpPr>
        <p:spPr>
          <a:xfrm>
            <a:off x="3392424" y="46817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10" name="Text 208"/>
          <p:cNvSpPr/>
          <p:nvPr/>
        </p:nvSpPr>
        <p:spPr>
          <a:xfrm>
            <a:off x="3630168" y="467258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geofence_id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822546" y="467258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3355848" y="4846320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3429000" y="487375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event_type</a:t>
            </a:r>
            <a:endParaRPr lang="en-US" sz="700" dirty="0"/>
          </a:p>
        </p:txBody>
      </p:sp>
      <p:sp>
        <p:nvSpPr>
          <p:cNvPr id="214" name="Text 212"/>
          <p:cNvSpPr/>
          <p:nvPr/>
        </p:nvSpPr>
        <p:spPr>
          <a:xfrm>
            <a:off x="4822546" y="487375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(entry|exit)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3355848" y="5047488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429000" y="507492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217" name="Text 215"/>
          <p:cNvSpPr/>
          <p:nvPr/>
        </p:nvSpPr>
        <p:spPr>
          <a:xfrm>
            <a:off x="4822546" y="507492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218" name="Shape 216"/>
          <p:cNvSpPr/>
          <p:nvPr/>
        </p:nvSpPr>
        <p:spPr>
          <a:xfrm>
            <a:off x="3355848" y="5248656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3429000" y="527608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220" name="Text 218"/>
          <p:cNvSpPr/>
          <p:nvPr/>
        </p:nvSpPr>
        <p:spPr>
          <a:xfrm>
            <a:off x="4822546" y="527608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221" name="Shape 219"/>
          <p:cNvSpPr/>
          <p:nvPr/>
        </p:nvSpPr>
        <p:spPr>
          <a:xfrm>
            <a:off x="3355848" y="5449824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429000" y="547725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occurred_at</a:t>
            </a:r>
            <a:endParaRPr lang="en-US" sz="700" dirty="0"/>
          </a:p>
        </p:txBody>
      </p:sp>
      <p:sp>
        <p:nvSpPr>
          <p:cNvPr id="223" name="Text 221"/>
          <p:cNvSpPr/>
          <p:nvPr/>
        </p:nvSpPr>
        <p:spPr>
          <a:xfrm>
            <a:off x="4822546" y="547725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224" name="Shape 222"/>
          <p:cNvSpPr/>
          <p:nvPr/>
        </p:nvSpPr>
        <p:spPr>
          <a:xfrm>
            <a:off x="3355848" y="5650992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3429000" y="567842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is_resolved</a:t>
            </a:r>
            <a:endParaRPr lang="en-US" sz="700" dirty="0"/>
          </a:p>
        </p:txBody>
      </p:sp>
      <p:sp>
        <p:nvSpPr>
          <p:cNvPr id="226" name="Text 224"/>
          <p:cNvSpPr/>
          <p:nvPr/>
        </p:nvSpPr>
        <p:spPr>
          <a:xfrm>
            <a:off x="4822546" y="567842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6172200" y="3931920"/>
            <a:ext cx="24688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6263640" y="39867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event_type ENUM (trip_events)</a:t>
            </a:r>
            <a:endParaRPr lang="en-US" sz="800" dirty="0"/>
          </a:p>
        </p:txBody>
      </p:sp>
      <p:sp>
        <p:nvSpPr>
          <p:cNvPr id="229" name="Text 227"/>
          <p:cNvSpPr/>
          <p:nvPr/>
        </p:nvSpPr>
        <p:spPr>
          <a:xfrm>
            <a:off x="6263640" y="416966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llegada_sitio · parada · reinicio · llegada_destino</a:t>
            </a:r>
            <a:endParaRPr lang="en-US" sz="700" dirty="0"/>
          </a:p>
        </p:txBody>
      </p:sp>
      <p:sp>
        <p:nvSpPr>
          <p:cNvPr id="230" name="Shape 228"/>
          <p:cNvSpPr/>
          <p:nvPr/>
        </p:nvSpPr>
        <p:spPr>
          <a:xfrm>
            <a:off x="6172200" y="4681728"/>
            <a:ext cx="2468880" cy="685800"/>
          </a:xfrm>
          <a:prstGeom prst="rect">
            <a:avLst/>
          </a:prstGeom>
          <a:solidFill>
            <a:srgbClr val="FCEBE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263640" y="47365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fm_type ENUM (fuerza mayor)</a:t>
            </a:r>
            <a:endParaRPr lang="en-US" sz="800" dirty="0"/>
          </a:p>
        </p:txBody>
      </p:sp>
      <p:sp>
        <p:nvSpPr>
          <p:cNvPr id="232" name="Text 230"/>
          <p:cNvSpPr/>
          <p:nvPr/>
        </p:nvSpPr>
        <p:spPr>
          <a:xfrm>
            <a:off x="6263640" y="4919472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derrumbe · inundacion · caida_puente · lluvias · contingencia_social · otros</a:t>
            </a:r>
            <a:endParaRPr lang="en-US" sz="700" dirty="0"/>
          </a:p>
        </p:txBody>
      </p:sp>
      <p:sp>
        <p:nvSpPr>
          <p:cNvPr id="233" name="Shape 231"/>
          <p:cNvSpPr/>
          <p:nvPr/>
        </p:nvSpPr>
        <p:spPr>
          <a:xfrm>
            <a:off x="8823960" y="3931920"/>
            <a:ext cx="3017520" cy="685800"/>
          </a:xfrm>
          <a:prstGeom prst="rect">
            <a:avLst/>
          </a:prstGeom>
          <a:solidFill>
            <a:srgbClr val="EAF3DE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8915400" y="39867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PARTICIONAMIENTO gps_tracks</a:t>
            </a:r>
            <a:endParaRPr lang="en-US" sz="800" dirty="0"/>
          </a:p>
        </p:txBody>
      </p:sp>
      <p:sp>
        <p:nvSpPr>
          <p:cNvPr id="235" name="Text 233"/>
          <p:cNvSpPr/>
          <p:nvPr/>
        </p:nvSpPr>
        <p:spPr>
          <a:xfrm>
            <a:off x="8915400" y="4169664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Tabla particionada por mes (PARTITION BY RANGE recorded_at). Índice compuesto: vehicle_id + recorded_at DESC para consultas eficientes.</a:t>
            </a:r>
            <a:endParaRPr lang="en-US" sz="700" dirty="0"/>
          </a:p>
        </p:txBody>
      </p:sp>
      <p:sp>
        <p:nvSpPr>
          <p:cNvPr id="236" name="Shape 234"/>
          <p:cNvSpPr/>
          <p:nvPr/>
        </p:nvSpPr>
        <p:spPr>
          <a:xfrm>
            <a:off x="8823960" y="4681728"/>
            <a:ext cx="3017520" cy="685800"/>
          </a:xfrm>
          <a:prstGeom prst="rect">
            <a:avLst/>
          </a:prstGeom>
          <a:solidFill>
            <a:srgbClr val="FCEBE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8915400" y="47365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Regla de negocio — Fuerza Mayor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8915400" y="4919472"/>
            <a:ext cx="2834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is_force_majeure=true requiere fm_photos con exactamente 3 URLs. Constraint CHECK en BD. Sin las 3 fotos el INSERT es rechazado.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D6B5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TÉCNICO · PANEL PRINCIPAL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E"/>
                </a:solidFill>
              </a:rPr>
              <a:t>teams · team_members · tasks · task_events · nodes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teams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5176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05026" y="129844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9961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name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05026" y="149961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38328" y="167335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612648" y="170078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05026" y="170078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38328" y="1874520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612648" y="190195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zone_id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05026" y="190195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38328" y="2075688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" y="2112264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" y="211226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612648" y="210312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805026" y="210312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38328" y="2276856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231343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" y="231343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612648" y="230428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supervisor_id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05026" y="230428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8328" y="2478024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50545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trip_date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805026" y="250545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38328" y="2679192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70662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805026" y="270662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38328" y="2880360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290779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805026" y="290779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154680" y="960120"/>
            <a:ext cx="265176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team_members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54680" y="1234440"/>
            <a:ext cx="265176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72968" y="127101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954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50" name="Text 48"/>
          <p:cNvSpPr/>
          <p:nvPr/>
        </p:nvSpPr>
        <p:spPr>
          <a:xfrm>
            <a:off x="320954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3447288" y="129844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639666" y="129844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172968" y="147218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954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55" name="Text 53"/>
          <p:cNvSpPr/>
          <p:nvPr/>
        </p:nvSpPr>
        <p:spPr>
          <a:xfrm>
            <a:off x="320954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447288" y="149961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team_id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639666" y="149961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172968" y="167335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954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60" name="Text 58"/>
          <p:cNvSpPr/>
          <p:nvPr/>
        </p:nvSpPr>
        <p:spPr>
          <a:xfrm>
            <a:off x="320954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3447288" y="170078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staff_id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639666" y="170078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3172968" y="1874520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190195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role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639666" y="190195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(driver|tecnico)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172968" y="2075688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46120" y="210312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subgroup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639666" y="210312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 (1|2|3)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172968" y="2276856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46120" y="230428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node_assigned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639666" y="230428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172968" y="2478024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46120" y="250545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joined_at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639666" y="250545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172968" y="2679192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46120" y="270662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left_at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639666" y="270662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 (nullable)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5989320" y="960120"/>
            <a:ext cx="2743200" cy="27432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989320" y="12344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0760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4418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83" name="Text 81"/>
          <p:cNvSpPr/>
          <p:nvPr/>
        </p:nvSpPr>
        <p:spPr>
          <a:xfrm>
            <a:off x="604418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628192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52551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00760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4418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88" name="Text 86"/>
          <p:cNvSpPr/>
          <p:nvPr/>
        </p:nvSpPr>
        <p:spPr>
          <a:xfrm>
            <a:off x="604418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89" name="Text 87"/>
          <p:cNvSpPr/>
          <p:nvPr/>
        </p:nvSpPr>
        <p:spPr>
          <a:xfrm>
            <a:off x="628192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team_id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52551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600760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4418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93" name="Text 91"/>
          <p:cNvSpPr/>
          <p:nvPr/>
        </p:nvSpPr>
        <p:spPr>
          <a:xfrm>
            <a:off x="604418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628192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assigned_to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52551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600760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04418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98" name="Text 96"/>
          <p:cNvSpPr/>
          <p:nvPr/>
        </p:nvSpPr>
        <p:spPr>
          <a:xfrm>
            <a:off x="604418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6281928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node_id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52551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600760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8076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task_type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52551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00760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08076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title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52551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00760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08076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752551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600760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08076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priority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752551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(low|med|high)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600760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08076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752551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00760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8076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due_date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752551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600760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080760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completed_at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752551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8915400" y="960120"/>
            <a:ext cx="292608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0684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nodes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8915400" y="1234440"/>
            <a:ext cx="29260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933688" y="1271016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97026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27" name="Text 125"/>
          <p:cNvSpPr/>
          <p:nvPr/>
        </p:nvSpPr>
        <p:spPr>
          <a:xfrm>
            <a:off x="897026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28" name="Text 126"/>
          <p:cNvSpPr/>
          <p:nvPr/>
        </p:nvSpPr>
        <p:spPr>
          <a:xfrm>
            <a:off x="9208008" y="129844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10554005" y="129844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8933688" y="1472184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006840" y="149961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code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10554005" y="149961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 UNIQUE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8933688" y="1673352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006840" y="170078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name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10554005" y="170078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933688" y="1874520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97026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38" name="Text 136"/>
          <p:cNvSpPr/>
          <p:nvPr/>
        </p:nvSpPr>
        <p:spPr>
          <a:xfrm>
            <a:off x="897026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39" name="Text 137"/>
          <p:cNvSpPr/>
          <p:nvPr/>
        </p:nvSpPr>
        <p:spPr>
          <a:xfrm>
            <a:off x="9208008" y="1901952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10554005" y="1901952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8933688" y="2075688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970264" y="2112264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43" name="Text 141"/>
          <p:cNvSpPr/>
          <p:nvPr/>
        </p:nvSpPr>
        <p:spPr>
          <a:xfrm>
            <a:off x="8970264" y="211226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44" name="Text 142"/>
          <p:cNvSpPr/>
          <p:nvPr/>
        </p:nvSpPr>
        <p:spPr>
          <a:xfrm>
            <a:off x="9208008" y="2103120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zone_id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10554005" y="2103120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933688" y="2276856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006840" y="230428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10554005" y="230428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8933688" y="2478024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006840" y="250545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10554005" y="250545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8933688" y="2679192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006840" y="270662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node_type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10554005" y="270662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8933688" y="2880360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006840" y="2907792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has_generator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10554005" y="2907792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8933688" y="3081528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006840" y="3108960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10554005" y="3108960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320040" y="4114800"/>
            <a:ext cx="274320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114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task_events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320040" y="4389120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38328" y="4425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74904" y="446227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66" name="Text 164"/>
          <p:cNvSpPr/>
          <p:nvPr/>
        </p:nvSpPr>
        <p:spPr>
          <a:xfrm>
            <a:off x="374904" y="44622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67" name="Text 165"/>
          <p:cNvSpPr/>
          <p:nvPr/>
        </p:nvSpPr>
        <p:spPr>
          <a:xfrm>
            <a:off x="612648" y="4453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856232" y="4453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338328" y="4626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74904" y="46634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71" name="Text 169"/>
          <p:cNvSpPr/>
          <p:nvPr/>
        </p:nvSpPr>
        <p:spPr>
          <a:xfrm>
            <a:off x="374904" y="466344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72" name="Text 170"/>
          <p:cNvSpPr/>
          <p:nvPr/>
        </p:nvSpPr>
        <p:spPr>
          <a:xfrm>
            <a:off x="612648" y="4654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task_id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856232" y="4654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74" name="Shape 172"/>
          <p:cNvSpPr/>
          <p:nvPr/>
        </p:nvSpPr>
        <p:spPr>
          <a:xfrm>
            <a:off x="338328" y="48280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74904" y="486460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76" name="Text 174"/>
          <p:cNvSpPr/>
          <p:nvPr/>
        </p:nvSpPr>
        <p:spPr>
          <a:xfrm>
            <a:off x="374904" y="486460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77" name="Text 175"/>
          <p:cNvSpPr/>
          <p:nvPr/>
        </p:nvSpPr>
        <p:spPr>
          <a:xfrm>
            <a:off x="612648" y="48554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team_id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856232" y="48554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338328" y="502920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74904" y="506577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81" name="Text 179"/>
          <p:cNvSpPr/>
          <p:nvPr/>
        </p:nvSpPr>
        <p:spPr>
          <a:xfrm>
            <a:off x="374904" y="506577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82" name="Text 180"/>
          <p:cNvSpPr/>
          <p:nvPr/>
        </p:nvSpPr>
        <p:spPr>
          <a:xfrm>
            <a:off x="612648" y="505663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staff_id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856232" y="505663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338328" y="523036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11480" y="5257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event_type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1856232" y="52578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338328" y="543153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11480" y="54589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1856232" y="545896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338328" y="563270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11480" y="566013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1856232" y="56601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338328" y="583387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11480" y="586130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photo_urls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1856232" y="586130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[]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338328" y="603504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11480" y="6062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notes</a:t>
            </a:r>
            <a:endParaRPr lang="en-US" sz="700" dirty="0"/>
          </a:p>
        </p:txBody>
      </p:sp>
      <p:sp>
        <p:nvSpPr>
          <p:cNvPr id="198" name="Text 196"/>
          <p:cNvSpPr/>
          <p:nvPr/>
        </p:nvSpPr>
        <p:spPr>
          <a:xfrm>
            <a:off x="1856232" y="606247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338328" y="623620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11480" y="62636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is_force_majeure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1856232" y="626364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338328" y="643737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11480" y="646480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fm_type</a:t>
            </a:r>
            <a:endParaRPr lang="en-US" sz="700" dirty="0"/>
          </a:p>
        </p:txBody>
      </p:sp>
      <p:sp>
        <p:nvSpPr>
          <p:cNvPr id="204" name="Text 202"/>
          <p:cNvSpPr/>
          <p:nvPr/>
        </p:nvSpPr>
        <p:spPr>
          <a:xfrm>
            <a:off x="1856232" y="646480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(nullable)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338328" y="663854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411480" y="666597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recorded_at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1856232" y="666597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3246120" y="4114800"/>
            <a:ext cx="256032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33756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zones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3246120" y="4389120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264408" y="442569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300984" y="446227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213" name="Text 211"/>
          <p:cNvSpPr/>
          <p:nvPr/>
        </p:nvSpPr>
        <p:spPr>
          <a:xfrm>
            <a:off x="3300984" y="44622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214" name="Text 212"/>
          <p:cNvSpPr/>
          <p:nvPr/>
        </p:nvSpPr>
        <p:spPr>
          <a:xfrm>
            <a:off x="3538728" y="445312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4679899" y="445312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216" name="Shape 214"/>
          <p:cNvSpPr/>
          <p:nvPr/>
        </p:nvSpPr>
        <p:spPr>
          <a:xfrm>
            <a:off x="3264408" y="462686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337560" y="465429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name</a:t>
            </a:r>
            <a:endParaRPr lang="en-US" sz="700" dirty="0"/>
          </a:p>
        </p:txBody>
      </p:sp>
      <p:sp>
        <p:nvSpPr>
          <p:cNvPr id="218" name="Text 216"/>
          <p:cNvSpPr/>
          <p:nvPr/>
        </p:nvSpPr>
        <p:spPr>
          <a:xfrm>
            <a:off x="4679899" y="465429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219" name="Shape 217"/>
          <p:cNvSpPr/>
          <p:nvPr/>
        </p:nvSpPr>
        <p:spPr>
          <a:xfrm>
            <a:off x="3264408" y="482803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300984" y="486460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21" name="Text 219"/>
          <p:cNvSpPr/>
          <p:nvPr/>
        </p:nvSpPr>
        <p:spPr>
          <a:xfrm>
            <a:off x="3300984" y="486460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22" name="Text 220"/>
          <p:cNvSpPr/>
          <p:nvPr/>
        </p:nvSpPr>
        <p:spPr>
          <a:xfrm>
            <a:off x="3538728" y="485546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223" name="Text 221"/>
          <p:cNvSpPr/>
          <p:nvPr/>
        </p:nvSpPr>
        <p:spPr>
          <a:xfrm>
            <a:off x="4679899" y="485546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24" name="Shape 222"/>
          <p:cNvSpPr/>
          <p:nvPr/>
        </p:nvSpPr>
        <p:spPr>
          <a:xfrm>
            <a:off x="3264408" y="502920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300984" y="506577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26" name="Text 224"/>
          <p:cNvSpPr/>
          <p:nvPr/>
        </p:nvSpPr>
        <p:spPr>
          <a:xfrm>
            <a:off x="3300984" y="506577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27" name="Text 225"/>
          <p:cNvSpPr/>
          <p:nvPr/>
        </p:nvSpPr>
        <p:spPr>
          <a:xfrm>
            <a:off x="3538728" y="505663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supervisor_id</a:t>
            </a:r>
            <a:endParaRPr lang="en-US" sz="700" dirty="0"/>
          </a:p>
        </p:txBody>
      </p:sp>
      <p:sp>
        <p:nvSpPr>
          <p:cNvPr id="228" name="Text 226"/>
          <p:cNvSpPr/>
          <p:nvPr/>
        </p:nvSpPr>
        <p:spPr>
          <a:xfrm>
            <a:off x="4679899" y="505663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29" name="Shape 227"/>
          <p:cNvSpPr/>
          <p:nvPr/>
        </p:nvSpPr>
        <p:spPr>
          <a:xfrm>
            <a:off x="3264408" y="523036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337560" y="525780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231" name="Text 229"/>
          <p:cNvSpPr/>
          <p:nvPr/>
        </p:nvSpPr>
        <p:spPr>
          <a:xfrm>
            <a:off x="4679899" y="525780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5989320" y="4114800"/>
            <a:ext cx="256032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08076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regions</a:t>
            </a:r>
            <a:endParaRPr lang="en-US" sz="900" dirty="0"/>
          </a:p>
        </p:txBody>
      </p:sp>
      <p:sp>
        <p:nvSpPr>
          <p:cNvPr id="234" name="Shape 232"/>
          <p:cNvSpPr/>
          <p:nvPr/>
        </p:nvSpPr>
        <p:spPr>
          <a:xfrm>
            <a:off x="5989320" y="438912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007608" y="442569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044184" y="446227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237" name="Text 235"/>
          <p:cNvSpPr/>
          <p:nvPr/>
        </p:nvSpPr>
        <p:spPr>
          <a:xfrm>
            <a:off x="6044184" y="44622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238" name="Text 236"/>
          <p:cNvSpPr/>
          <p:nvPr/>
        </p:nvSpPr>
        <p:spPr>
          <a:xfrm>
            <a:off x="6281928" y="445312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239" name="Text 237"/>
          <p:cNvSpPr/>
          <p:nvPr/>
        </p:nvSpPr>
        <p:spPr>
          <a:xfrm>
            <a:off x="7423099" y="445312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240" name="Shape 238"/>
          <p:cNvSpPr/>
          <p:nvPr/>
        </p:nvSpPr>
        <p:spPr>
          <a:xfrm>
            <a:off x="6007608" y="462686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080760" y="465429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name</a:t>
            </a:r>
            <a:endParaRPr lang="en-US" sz="700" dirty="0"/>
          </a:p>
        </p:txBody>
      </p:sp>
      <p:sp>
        <p:nvSpPr>
          <p:cNvPr id="242" name="Text 240"/>
          <p:cNvSpPr/>
          <p:nvPr/>
        </p:nvSpPr>
        <p:spPr>
          <a:xfrm>
            <a:off x="7423099" y="465429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243" name="Shape 241"/>
          <p:cNvSpPr/>
          <p:nvPr/>
        </p:nvSpPr>
        <p:spPr>
          <a:xfrm>
            <a:off x="6007608" y="482803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080760" y="485546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code</a:t>
            </a:r>
            <a:endParaRPr lang="en-US" sz="700" dirty="0"/>
          </a:p>
        </p:txBody>
      </p:sp>
      <p:sp>
        <p:nvSpPr>
          <p:cNvPr id="245" name="Text 243"/>
          <p:cNvSpPr/>
          <p:nvPr/>
        </p:nvSpPr>
        <p:spPr>
          <a:xfrm>
            <a:off x="7423099" y="485546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varchar(10) UNIQUE</a:t>
            </a:r>
            <a:endParaRPr lang="en-US" sz="650" dirty="0"/>
          </a:p>
        </p:txBody>
      </p:sp>
      <p:sp>
        <p:nvSpPr>
          <p:cNvPr id="246" name="Shape 244"/>
          <p:cNvSpPr/>
          <p:nvPr/>
        </p:nvSpPr>
        <p:spPr>
          <a:xfrm>
            <a:off x="6007608" y="502920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044184" y="506577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48" name="Text 246"/>
          <p:cNvSpPr/>
          <p:nvPr/>
        </p:nvSpPr>
        <p:spPr>
          <a:xfrm>
            <a:off x="6044184" y="506577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49" name="Text 247"/>
          <p:cNvSpPr/>
          <p:nvPr/>
        </p:nvSpPr>
        <p:spPr>
          <a:xfrm>
            <a:off x="6281928" y="505663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coordinator_id</a:t>
            </a:r>
            <a:endParaRPr lang="en-US" sz="700" dirty="0"/>
          </a:p>
        </p:txBody>
      </p:sp>
      <p:sp>
        <p:nvSpPr>
          <p:cNvPr id="250" name="Text 248"/>
          <p:cNvSpPr/>
          <p:nvPr/>
        </p:nvSpPr>
        <p:spPr>
          <a:xfrm>
            <a:off x="7423099" y="505663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51" name="Shape 249"/>
          <p:cNvSpPr/>
          <p:nvPr/>
        </p:nvSpPr>
        <p:spPr>
          <a:xfrm>
            <a:off x="6007608" y="523036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6080760" y="525780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color_hex</a:t>
            </a:r>
            <a:endParaRPr lang="en-US" sz="700" dirty="0"/>
          </a:p>
        </p:txBody>
      </p:sp>
      <p:sp>
        <p:nvSpPr>
          <p:cNvPr id="253" name="Text 251"/>
          <p:cNvSpPr/>
          <p:nvPr/>
        </p:nvSpPr>
        <p:spPr>
          <a:xfrm>
            <a:off x="7423099" y="525780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varchar(6)</a:t>
            </a:r>
            <a:endParaRPr lang="en-US" sz="650" dirty="0"/>
          </a:p>
        </p:txBody>
      </p:sp>
      <p:sp>
        <p:nvSpPr>
          <p:cNvPr id="254" name="Shape 252"/>
          <p:cNvSpPr/>
          <p:nvPr/>
        </p:nvSpPr>
        <p:spPr>
          <a:xfrm>
            <a:off x="6007608" y="5431536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080760" y="545896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256" name="Text 254"/>
          <p:cNvSpPr/>
          <p:nvPr/>
        </p:nvSpPr>
        <p:spPr>
          <a:xfrm>
            <a:off x="7423099" y="545896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57" name="Shape 255"/>
          <p:cNvSpPr/>
          <p:nvPr/>
        </p:nvSpPr>
        <p:spPr>
          <a:xfrm>
            <a:off x="8732520" y="4114800"/>
            <a:ext cx="3108960" cy="685800"/>
          </a:xfrm>
          <a:prstGeom prst="rect">
            <a:avLst/>
          </a:prstGeom>
          <a:solidFill>
            <a:srgbClr val="E0F5E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8823960" y="41696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task_type ENUM</a:t>
            </a:r>
            <a:endParaRPr lang="en-US" sz="800" dirty="0"/>
          </a:p>
        </p:txBody>
      </p:sp>
      <p:sp>
        <p:nvSpPr>
          <p:cNvPr id="259" name="Text 257"/>
          <p:cNvSpPr/>
          <p:nvPr/>
        </p:nvSpPr>
        <p:spPr>
          <a:xfrm>
            <a:off x="8823960" y="4352544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instalacion · mantenimiento_preventivo · mantenimiento_correctivo · carga_generador · inspeccion · otro</a:t>
            </a:r>
            <a:endParaRPr lang="en-US" sz="700" dirty="0"/>
          </a:p>
        </p:txBody>
      </p:sp>
      <p:sp>
        <p:nvSpPr>
          <p:cNvPr id="260" name="Shape 258"/>
          <p:cNvSpPr/>
          <p:nvPr/>
        </p:nvSpPr>
        <p:spPr>
          <a:xfrm>
            <a:off x="8732520" y="4864608"/>
            <a:ext cx="3108960" cy="822960"/>
          </a:xfrm>
          <a:prstGeom prst="rect">
            <a:avLst/>
          </a:prstGeom>
          <a:solidFill>
            <a:srgbClr val="E6F1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8823960" y="4919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Subgrupos de técnicos</a:t>
            </a:r>
            <a:endParaRPr lang="en-US" sz="800" dirty="0"/>
          </a:p>
        </p:txBody>
      </p:sp>
      <p:sp>
        <p:nvSpPr>
          <p:cNvPr id="262" name="Text 260"/>
          <p:cNvSpPr/>
          <p:nvPr/>
        </p:nvSpPr>
        <p:spPr>
          <a:xfrm>
            <a:off x="8823960" y="51023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subgroup en team_members permite que el driver deje técnicos en nodos distintos. Cada subgroup registra task_events independientemente, todos vinculados al mismo team_id.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A32D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 · PAGOS DE CAMPO / CAJA CHICA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E"/>
                </a:solidFill>
              </a:rPr>
              <a:t>petty_cash_transactions · petty_cash_accounts · reimbursement_batches · staff_bank_accounts · petty_cash_ledger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017520" cy="27432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petty_cash_transactions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017520" cy="470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09851" y="1298448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99616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seq_number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009851" y="1499616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 (por región)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38328" y="1673352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612648" y="1700784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009851" y="1700784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38328" y="1874520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612648" y="1901952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009851" y="1901952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38328" y="2075688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" y="2112264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" y="211226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612648" y="2103120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trip_id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009851" y="2103120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38328" y="2276856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304288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transaction_date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009851" y="2304288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38328" y="2478024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505456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concept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09851" y="2505456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38328" y="2679192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706624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expense_subtype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009851" y="2706624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38328" y="2880360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907792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009851" y="2907792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38328" y="3081528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108960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node_code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009851" y="3108960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38328" y="3282696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10128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vehicle_plate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009851" y="3310128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varchar(8)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38328" y="3483864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511296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amount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009851" y="3511296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38328" y="3685032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712464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009851" y="3712464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38328" y="3886200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913632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voucher_type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009851" y="3913632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38328" y="4087368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114800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voucher_number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009851" y="4114800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38328" y="4288536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315968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photo_url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009851" y="4315968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varchar(500)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38328" y="4489704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517136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reimbursement_code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009851" y="4517136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38328" y="4690872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718304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reimbursement_type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009851" y="4718304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(nullable)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38328" y="4892040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919472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week_number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009851" y="4919472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38328" y="5093208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5120640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month_number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009851" y="5120640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38328" y="5294376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321808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observations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009851" y="5321808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38328" y="5495544"/>
            <a:ext cx="29809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4904" y="553212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81" name="Text 79"/>
          <p:cNvSpPr/>
          <p:nvPr/>
        </p:nvSpPr>
        <p:spPr>
          <a:xfrm>
            <a:off x="374904" y="553212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612648" y="5522976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batch_id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009851" y="5522976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38328" y="5696712"/>
            <a:ext cx="29809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724144"/>
            <a:ext cx="12673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009851" y="5724144"/>
            <a:ext cx="12545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520440" y="960120"/>
            <a:ext cx="256032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118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petty_cash_accounts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520440" y="1234440"/>
            <a:ext cx="25603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38728" y="127101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5753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92" name="Text 90"/>
          <p:cNvSpPr/>
          <p:nvPr/>
        </p:nvSpPr>
        <p:spPr>
          <a:xfrm>
            <a:off x="35753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3813048" y="129844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954219" y="129844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3538728" y="147218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5753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97" name="Text 95"/>
          <p:cNvSpPr/>
          <p:nvPr/>
        </p:nvSpPr>
        <p:spPr>
          <a:xfrm>
            <a:off x="35753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98" name="Text 96"/>
          <p:cNvSpPr/>
          <p:nvPr/>
        </p:nvSpPr>
        <p:spPr>
          <a:xfrm>
            <a:off x="3813048" y="149961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4954219" y="149961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3538728" y="167335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11880" y="170078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permanent_fund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4954219" y="170078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3538728" y="187452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11880" y="190195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current_balance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954219" y="190195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538728" y="207568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11880" y="210312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amount_in_field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954219" y="210312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3538728" y="2276856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11880" y="230428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to_be_submitted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4954219" y="230428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3538728" y="2478024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611880" y="250545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in_reimbursement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954219" y="250545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3538728" y="2679192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11880" y="270662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gap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954219" y="270662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3538728" y="2880360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11880" y="290779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period_start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954219" y="290779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3538728" y="3081528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11880" y="310896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4954219" y="310896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6263640" y="960120"/>
            <a:ext cx="274320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3550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reimbursement_batches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6263640" y="1234440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8192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3185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29" name="Text 127"/>
          <p:cNvSpPr/>
          <p:nvPr/>
        </p:nvSpPr>
        <p:spPr>
          <a:xfrm>
            <a:off x="63185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30" name="Text 128"/>
          <p:cNvSpPr/>
          <p:nvPr/>
        </p:nvSpPr>
        <p:spPr>
          <a:xfrm>
            <a:off x="655624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779983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628192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355080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batch_code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79983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 UNIQUE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628192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185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37" name="Text 135"/>
          <p:cNvSpPr/>
          <p:nvPr/>
        </p:nvSpPr>
        <p:spPr>
          <a:xfrm>
            <a:off x="63185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38" name="Text 136"/>
          <p:cNvSpPr/>
          <p:nvPr/>
        </p:nvSpPr>
        <p:spPr>
          <a:xfrm>
            <a:off x="655624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779983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628192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31850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42" name="Text 140"/>
          <p:cNvSpPr/>
          <p:nvPr/>
        </p:nvSpPr>
        <p:spPr>
          <a:xfrm>
            <a:off x="631850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43" name="Text 141"/>
          <p:cNvSpPr/>
          <p:nvPr/>
        </p:nvSpPr>
        <p:spPr>
          <a:xfrm>
            <a:off x="6556248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staff_id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79983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628192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35508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batch_type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779983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628192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35508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total_amount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779983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628192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35508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transaction_count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779983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628192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35508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779983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628192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35508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submitted_at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779983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628192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35508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paid_at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779983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 (nullable)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628192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318504" y="331927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65" name="Text 163"/>
          <p:cNvSpPr/>
          <p:nvPr/>
        </p:nvSpPr>
        <p:spPr>
          <a:xfrm>
            <a:off x="6318504" y="33192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66" name="Text 164"/>
          <p:cNvSpPr/>
          <p:nvPr/>
        </p:nvSpPr>
        <p:spPr>
          <a:xfrm>
            <a:off x="6556248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approved_by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779983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6281928" y="3483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355080" y="3511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payment_reference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7799832" y="3511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9189720" y="960120"/>
            <a:ext cx="292608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2811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staff_bank_accounts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9189720" y="1234440"/>
            <a:ext cx="2926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208008" y="1271016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24458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76" name="Text 174"/>
          <p:cNvSpPr/>
          <p:nvPr/>
        </p:nvSpPr>
        <p:spPr>
          <a:xfrm>
            <a:off x="924458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77" name="Text 175"/>
          <p:cNvSpPr/>
          <p:nvPr/>
        </p:nvSpPr>
        <p:spPr>
          <a:xfrm>
            <a:off x="9482328" y="129844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0828325" y="129844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9208008" y="1472184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24458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81" name="Text 179"/>
          <p:cNvSpPr/>
          <p:nvPr/>
        </p:nvSpPr>
        <p:spPr>
          <a:xfrm>
            <a:off x="924458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82" name="Text 180"/>
          <p:cNvSpPr/>
          <p:nvPr/>
        </p:nvSpPr>
        <p:spPr>
          <a:xfrm>
            <a:off x="9482328" y="149961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staff_id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0828325" y="149961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9208008" y="1673352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9281160" y="170078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bank_name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10828325" y="170078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9208008" y="1874520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281160" y="1901952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account_number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10828325" y="1901952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varchar(30)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9208008" y="2075688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281160" y="2103120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cci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10828325" y="2103120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varchar(20)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9208008" y="2276856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9281160" y="230428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is_primary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10828325" y="230428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9208008" y="2478024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9281160" y="250545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98" name="Text 196"/>
          <p:cNvSpPr/>
          <p:nvPr/>
        </p:nvSpPr>
        <p:spPr>
          <a:xfrm>
            <a:off x="10828325" y="250545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3520440" y="4434840"/>
            <a:ext cx="274320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361188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petty_cash_ledger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3520440" y="470916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538728" y="474573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575304" y="478231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204" name="Text 202"/>
          <p:cNvSpPr/>
          <p:nvPr/>
        </p:nvSpPr>
        <p:spPr>
          <a:xfrm>
            <a:off x="3575304" y="47823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205" name="Text 203"/>
          <p:cNvSpPr/>
          <p:nvPr/>
        </p:nvSpPr>
        <p:spPr>
          <a:xfrm>
            <a:off x="3813048" y="47731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5056632" y="477316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3538728" y="494690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575304" y="498348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09" name="Text 207"/>
          <p:cNvSpPr/>
          <p:nvPr/>
        </p:nvSpPr>
        <p:spPr>
          <a:xfrm>
            <a:off x="3575304" y="498348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10" name="Text 208"/>
          <p:cNvSpPr/>
          <p:nvPr/>
        </p:nvSpPr>
        <p:spPr>
          <a:xfrm>
            <a:off x="3813048" y="497433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staff_id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5056632" y="49743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3538728" y="514807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575304" y="518464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14" name="Text 212"/>
          <p:cNvSpPr/>
          <p:nvPr/>
        </p:nvSpPr>
        <p:spPr>
          <a:xfrm>
            <a:off x="3575304" y="518464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15" name="Text 213"/>
          <p:cNvSpPr/>
          <p:nvPr/>
        </p:nvSpPr>
        <p:spPr>
          <a:xfrm>
            <a:off x="3813048" y="517550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216" name="Text 214"/>
          <p:cNvSpPr/>
          <p:nvPr/>
        </p:nvSpPr>
        <p:spPr>
          <a:xfrm>
            <a:off x="5056632" y="517550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3538728" y="534924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611880" y="53766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ledger_date</a:t>
            </a:r>
            <a:endParaRPr lang="en-US" sz="700" dirty="0"/>
          </a:p>
        </p:txBody>
      </p:sp>
      <p:sp>
        <p:nvSpPr>
          <p:cNvPr id="219" name="Text 217"/>
          <p:cNvSpPr/>
          <p:nvPr/>
        </p:nvSpPr>
        <p:spPr>
          <a:xfrm>
            <a:off x="5056632" y="537667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3538728" y="555040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3611880" y="557784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total_disbursed</a:t>
            </a:r>
            <a:endParaRPr lang="en-US" sz="700" dirty="0"/>
          </a:p>
        </p:txBody>
      </p:sp>
      <p:sp>
        <p:nvSpPr>
          <p:cNvPr id="222" name="Text 220"/>
          <p:cNvSpPr/>
          <p:nvPr/>
        </p:nvSpPr>
        <p:spPr>
          <a:xfrm>
            <a:off x="5056632" y="557784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3538728" y="575157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3611880" y="577900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total_rendered</a:t>
            </a:r>
            <a:endParaRPr lang="en-US" sz="700" dirty="0"/>
          </a:p>
        </p:txBody>
      </p:sp>
      <p:sp>
        <p:nvSpPr>
          <p:cNvPr id="225" name="Text 223"/>
          <p:cNvSpPr/>
          <p:nvPr/>
        </p:nvSpPr>
        <p:spPr>
          <a:xfrm>
            <a:off x="5056632" y="577900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26" name="Shape 224"/>
          <p:cNvSpPr/>
          <p:nvPr/>
        </p:nvSpPr>
        <p:spPr>
          <a:xfrm>
            <a:off x="3538728" y="595274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3611880" y="598017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in_field</a:t>
            </a:r>
            <a:endParaRPr lang="en-US" sz="700" dirty="0"/>
          </a:p>
        </p:txBody>
      </p:sp>
      <p:sp>
        <p:nvSpPr>
          <p:cNvPr id="228" name="Text 226"/>
          <p:cNvSpPr/>
          <p:nvPr/>
        </p:nvSpPr>
        <p:spPr>
          <a:xfrm>
            <a:off x="5056632" y="598017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29" name="Shape 227"/>
          <p:cNvSpPr/>
          <p:nvPr/>
        </p:nvSpPr>
        <p:spPr>
          <a:xfrm>
            <a:off x="3538728" y="615391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611880" y="618134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to_submit</a:t>
            </a:r>
            <a:endParaRPr lang="en-US" sz="700" dirty="0"/>
          </a:p>
        </p:txBody>
      </p:sp>
      <p:sp>
        <p:nvSpPr>
          <p:cNvPr id="231" name="Text 229"/>
          <p:cNvSpPr/>
          <p:nvPr/>
        </p:nvSpPr>
        <p:spPr>
          <a:xfrm>
            <a:off x="5056632" y="618134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3538728" y="635508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611880" y="638251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in_reimbursement_process</a:t>
            </a:r>
            <a:endParaRPr lang="en-US" sz="700" dirty="0"/>
          </a:p>
        </p:txBody>
      </p:sp>
      <p:sp>
        <p:nvSpPr>
          <p:cNvPr id="234" name="Text 232"/>
          <p:cNvSpPr/>
          <p:nvPr/>
        </p:nvSpPr>
        <p:spPr>
          <a:xfrm>
            <a:off x="5056632" y="638251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35" name="Shape 233"/>
          <p:cNvSpPr/>
          <p:nvPr/>
        </p:nvSpPr>
        <p:spPr>
          <a:xfrm>
            <a:off x="3538728" y="655624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3611880" y="658368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gap</a:t>
            </a:r>
            <a:endParaRPr lang="en-US" sz="700" dirty="0"/>
          </a:p>
        </p:txBody>
      </p:sp>
      <p:sp>
        <p:nvSpPr>
          <p:cNvPr id="237" name="Text 235"/>
          <p:cNvSpPr/>
          <p:nvPr/>
        </p:nvSpPr>
        <p:spPr>
          <a:xfrm>
            <a:off x="5056632" y="658368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38" name="Shape 236"/>
          <p:cNvSpPr/>
          <p:nvPr/>
        </p:nvSpPr>
        <p:spPr>
          <a:xfrm>
            <a:off x="320040" y="4663440"/>
            <a:ext cx="301752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411480" y="47183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concept ENUM</a:t>
            </a:r>
            <a:endParaRPr lang="en-US" sz="800" dirty="0"/>
          </a:p>
        </p:txBody>
      </p:sp>
      <p:sp>
        <p:nvSpPr>
          <p:cNvPr id="240" name="Text 238"/>
          <p:cNvSpPr/>
          <p:nvPr/>
        </p:nvSpPr>
        <p:spPr>
          <a:xfrm>
            <a:off x="411480" y="49011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vehicle_fuel · dg_refuel · peajes · viaticos · consumibles · vehicle_expenses · operation_expense · boat_expense · otros</a:t>
            </a:r>
            <a:endParaRPr lang="en-US" sz="700" dirty="0"/>
          </a:p>
        </p:txBody>
      </p:sp>
      <p:sp>
        <p:nvSpPr>
          <p:cNvPr id="241" name="Shape 239"/>
          <p:cNvSpPr/>
          <p:nvPr/>
        </p:nvSpPr>
        <p:spPr>
          <a:xfrm>
            <a:off x="6263640" y="4434840"/>
            <a:ext cx="2743200" cy="713232"/>
          </a:xfrm>
          <a:prstGeom prst="rect">
            <a:avLst/>
          </a:prstGeom>
          <a:solidFill>
            <a:srgbClr val="FAEEDA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355080" y="44897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status ENUM</a:t>
            </a:r>
            <a:endParaRPr lang="en-US" sz="800" dirty="0"/>
          </a:p>
        </p:txBody>
      </p:sp>
      <p:sp>
        <p:nvSpPr>
          <p:cNvPr id="243" name="Text 241"/>
          <p:cNvSpPr/>
          <p:nvPr/>
        </p:nvSpPr>
        <p:spPr>
          <a:xfrm>
            <a:off x="6355080" y="46725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rendido · pendiente · pendiente_carga_f · en_reembolso · inhouse · expense_record · observado · depositado</a:t>
            </a:r>
            <a:endParaRPr lang="en-US" sz="700" dirty="0"/>
          </a:p>
        </p:txBody>
      </p:sp>
      <p:sp>
        <p:nvSpPr>
          <p:cNvPr id="244" name="Shape 242"/>
          <p:cNvSpPr/>
          <p:nvPr/>
        </p:nvSpPr>
        <p:spPr>
          <a:xfrm>
            <a:off x="9189720" y="4434840"/>
            <a:ext cx="2926080" cy="713232"/>
          </a:xfrm>
          <a:prstGeom prst="rect">
            <a:avLst/>
          </a:prstGeom>
          <a:solidFill>
            <a:srgbClr val="EAF3DE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9281160" y="44897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Reconciliación automática</a:t>
            </a:r>
            <a:endParaRPr lang="en-US" sz="800" dirty="0"/>
          </a:p>
        </p:txBody>
      </p:sp>
      <p:sp>
        <p:nvSpPr>
          <p:cNvPr id="246" name="Text 244"/>
          <p:cNvSpPr/>
          <p:nvPr/>
        </p:nvSpPr>
        <p:spPr>
          <a:xfrm>
            <a:off x="9281160" y="46725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expense_subtype = fuel_pickup → genera fuel_record en M3. expense_subtype = dg_refuel → vincula con nodo generador. Sin intervención manual.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DASHBOARD GPS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E"/>
                </a:solidFill>
              </a:rPr>
              <a:t>gps_tracks · geofences · geofence_events · alerts · trips · trip_events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834640" cy="27432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alerts  (tabla transversal)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834640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07438" y="129844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612648" y="149961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07438" y="149961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38328" y="1673352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612648" y="170078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07438" y="170078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38328" y="1874520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612648" y="1901952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team_id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07438" y="1901952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38328" y="2075688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103120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alert_type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07438" y="2103120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38328" y="2276856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30428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title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907438" y="230428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38328" y="2478024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50545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907438" y="250545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38328" y="2679192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70662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severity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907438" y="270662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(low|med|high|critical)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38328" y="2880360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907792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907438" y="2907792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38328" y="3081528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108960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907438" y="3108960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38328" y="3282696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1012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is_resolved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07438" y="331012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38328" y="3483864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51129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resolved_at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907438" y="351129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38328" y="3685032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4904" y="372160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54" name="Text 52"/>
          <p:cNvSpPr/>
          <p:nvPr/>
        </p:nvSpPr>
        <p:spPr>
          <a:xfrm>
            <a:off x="374904" y="372160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612648" y="371246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resolved_by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07438" y="371246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38328" y="3886200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913632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907438" y="3913632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337560" y="960120"/>
            <a:ext cx="274320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2900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driving_events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337560" y="1234440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5584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9242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65" name="Text 63"/>
          <p:cNvSpPr/>
          <p:nvPr/>
        </p:nvSpPr>
        <p:spPr>
          <a:xfrm>
            <a:off x="339242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363016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87375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335584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9242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70" name="Text 68"/>
          <p:cNvSpPr/>
          <p:nvPr/>
        </p:nvSpPr>
        <p:spPr>
          <a:xfrm>
            <a:off x="339242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363016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87375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35584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9242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75" name="Text 73"/>
          <p:cNvSpPr/>
          <p:nvPr/>
        </p:nvSpPr>
        <p:spPr>
          <a:xfrm>
            <a:off x="339242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363016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87375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35584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29000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event_type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87375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335584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2900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severity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87375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(low|med|high)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35584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2900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speed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87375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35584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2900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87375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335584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2900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87375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335584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2900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recorded_at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87375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6263640" y="960120"/>
            <a:ext cx="274320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550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idle_records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63640" y="123444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8192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185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1" name="Text 99"/>
          <p:cNvSpPr/>
          <p:nvPr/>
        </p:nvSpPr>
        <p:spPr>
          <a:xfrm>
            <a:off x="63185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02" name="Text 100"/>
          <p:cNvSpPr/>
          <p:nvPr/>
        </p:nvSpPr>
        <p:spPr>
          <a:xfrm>
            <a:off x="655624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79983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28192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185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06" name="Text 104"/>
          <p:cNvSpPr/>
          <p:nvPr/>
        </p:nvSpPr>
        <p:spPr>
          <a:xfrm>
            <a:off x="63185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07" name="Text 105"/>
          <p:cNvSpPr/>
          <p:nvPr/>
        </p:nvSpPr>
        <p:spPr>
          <a:xfrm>
            <a:off x="655624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779983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628192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3185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11" name="Text 109"/>
          <p:cNvSpPr/>
          <p:nvPr/>
        </p:nvSpPr>
        <p:spPr>
          <a:xfrm>
            <a:off x="63185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12" name="Text 110"/>
          <p:cNvSpPr/>
          <p:nvPr/>
        </p:nvSpPr>
        <p:spPr>
          <a:xfrm>
            <a:off x="655624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779983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628192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55080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duration_minutes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779983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628192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5508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liters_wasted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779983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decimal(6,2)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628192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5508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cost_wasted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79983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decimal(8,2)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628192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35508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latitude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779983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628192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35508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longitude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79983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decimal(10,7)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628192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35508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started_at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779983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628192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35508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ended_at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79983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9189720" y="960120"/>
            <a:ext cx="2926080" cy="1005840"/>
          </a:xfrm>
          <a:prstGeom prst="rect">
            <a:avLst/>
          </a:prstGeom>
          <a:solidFill>
            <a:srgbClr val="FCEBE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281160" y="1014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alert_type ENUM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9281160" y="119786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geocerca_entrada · geocerca_salida · exceso_velocidad · ralenti_prolongado · zona_restringida · bateria_baja · sin_señal · fuerza_mayor · doc_vencimiento · mantenimiento_vencido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320040" y="4160520"/>
            <a:ext cx="56692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29768" y="4251960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Vista GPS en tiempo real para el mapa web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Última posición de cada vehículo activo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ON (g.vehicle_id)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g.vehicle_id,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v.plate_number,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v.status,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g.latitude,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g.longitude,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g.speed,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g.engine_on,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g.recorded_at,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d.full_name AS driver_name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gps_tracks 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vehicles v ON v.id = g.vehicle_id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drivers d ON d.assigned_vehicle_id = g.vehicle_id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v.status = 'active'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g.recorded_at &gt; NOW() - INTERVAL '10 minutes'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g.vehicle_id, g.recorded_at DESC;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6172200" y="4160520"/>
            <a:ext cx="56692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281928" y="4251960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Alertas activas para el dashboard del supervisor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Filtrado por supervisor_id (RLS policy)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a.id,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a.alert_type,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a.severity,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a.title,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a.created_at,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v.plate_number,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d.full_name AS driver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alerts a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vehicles v ON v.id = a.vehicle_id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drivers d ON d.id = a.driver_id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a.is_resolved = false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a.severity IN ('high','critical')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a.created_at DESC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3B6D1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MANTENIMIENTO PREVENTIVO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E"/>
                </a:solidFill>
              </a:rPr>
              <a:t>catalogo_mantenimiento · plan_mantenimiento · maintenance_records · ordenes_trabajo · spare_parts · maintenance_predictions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468880" cy="27432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catalogo_mantenimiento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02613" y="1298448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99616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nombre_elemento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702613" y="1499616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38328" y="1673352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00784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unidad_medida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702613" y="1700784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(km|horas|meses)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38328" y="1874520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01952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descripcion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02613" y="1901952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38328" y="2075688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103120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procedimiento_sop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702613" y="2103120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38328" y="2276856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04288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02613" y="2304288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971800" y="960120"/>
            <a:ext cx="256032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plan_mantenimiento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1234440"/>
            <a:ext cx="25603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0088" y="1271016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2666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302666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64408" y="129844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405579" y="129844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90088" y="1472184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2666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38" name="Text 36"/>
          <p:cNvSpPr/>
          <p:nvPr/>
        </p:nvSpPr>
        <p:spPr>
          <a:xfrm>
            <a:off x="302666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3264408" y="149961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vehiculo_id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05579" y="149961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990088" y="1673352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2666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302666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3264408" y="170078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elemento_id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405579" y="170078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990088" y="1874520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1901952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frecuencia_valor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405579" y="1901952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990088" y="2075688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63240" y="2103120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frecuencia_unidad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405579" y="2103120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(km|horas|meses)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990088" y="2276856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3240" y="2304288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alerta_amarilla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405579" y="2304288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 (km|días)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990088" y="2478024"/>
            <a:ext cx="252374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63240" y="2505456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alerta_roja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405579" y="2505456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 (km|días)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90088" y="2679192"/>
            <a:ext cx="252374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63240" y="2706624"/>
            <a:ext cx="10753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405579" y="2706624"/>
            <a:ext cx="105338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715000" y="960120"/>
            <a:ext cx="274320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0644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maintenance_records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15000" y="1234440"/>
            <a:ext cx="27432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3328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986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66" name="Text 64"/>
          <p:cNvSpPr/>
          <p:nvPr/>
        </p:nvSpPr>
        <p:spPr>
          <a:xfrm>
            <a:off x="576986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600760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25119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73328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986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71" name="Text 69"/>
          <p:cNvSpPr/>
          <p:nvPr/>
        </p:nvSpPr>
        <p:spPr>
          <a:xfrm>
            <a:off x="576986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600760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vehiculo_id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25119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573328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76986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76" name="Text 74"/>
          <p:cNvSpPr/>
          <p:nvPr/>
        </p:nvSpPr>
        <p:spPr>
          <a:xfrm>
            <a:off x="576986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600760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elemento_id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25119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573328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986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81" name="Text 79"/>
          <p:cNvSpPr/>
          <p:nvPr/>
        </p:nvSpPr>
        <p:spPr>
          <a:xfrm>
            <a:off x="576986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6007608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orden_trabajo_id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25119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573328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0644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fecha_servicio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25119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73328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0644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lectura_odometro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25119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73328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0644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lectura_horometro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725119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573328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0644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costo_repuestos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25119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573328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0644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costo_mano_obra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725119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573328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0644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costo_total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25119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573328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06440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taller_proveedor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725119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5733288" y="3483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806440" y="3511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tipo_servicio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7251192" y="3511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5733288" y="36850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806440" y="37124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observaciones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7251192" y="37124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8641080" y="960120"/>
            <a:ext cx="320040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73252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ordenes_trabajo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8641080" y="1234440"/>
            <a:ext cx="32004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59368" y="1271016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69594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16" name="Text 114"/>
          <p:cNvSpPr/>
          <p:nvPr/>
        </p:nvSpPr>
        <p:spPr>
          <a:xfrm>
            <a:off x="869594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7" name="Text 115"/>
          <p:cNvSpPr/>
          <p:nvPr/>
        </p:nvSpPr>
        <p:spPr>
          <a:xfrm>
            <a:off x="8933688" y="129844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10433304" y="129844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8659368" y="1472184"/>
            <a:ext cx="31638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69594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21" name="Text 119"/>
          <p:cNvSpPr/>
          <p:nvPr/>
        </p:nvSpPr>
        <p:spPr>
          <a:xfrm>
            <a:off x="869594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22" name="Text 120"/>
          <p:cNvSpPr/>
          <p:nvPr/>
        </p:nvSpPr>
        <p:spPr>
          <a:xfrm>
            <a:off x="8933688" y="1499616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vehiculo_id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10433304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8659368" y="1673352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732520" y="1700784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numero_ot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10433304" y="1700784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varchar(20) UNIQUE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8659368" y="1874520"/>
            <a:ext cx="31638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32520" y="1901952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fecha_programada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10433304" y="1901952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8659368" y="2075688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732520" y="210312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fecha_completada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10433304" y="210312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8659368" y="2276856"/>
            <a:ext cx="31638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732520" y="230428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10433304" y="230428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659368" y="2478024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732520" y="2505456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urgencia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10433304" y="250545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8659368" y="2679192"/>
            <a:ext cx="31638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732520" y="2706624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taller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10433304" y="2706624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8659368" y="2880360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732520" y="2907792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costo_estimado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10433304" y="2907792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8659368" y="3081528"/>
            <a:ext cx="31638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732520" y="310896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costo_real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10433304" y="310896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8659368" y="3282696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732520" y="331012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trabajos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10433304" y="33101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[]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8659368" y="3483864"/>
            <a:ext cx="31638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732520" y="3511296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repuestos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10433304" y="351129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[]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8659368" y="3685032"/>
            <a:ext cx="31638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695944" y="372160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56" name="Text 154"/>
          <p:cNvSpPr/>
          <p:nvPr/>
        </p:nvSpPr>
        <p:spPr>
          <a:xfrm>
            <a:off x="8695944" y="372160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57" name="Text 155"/>
          <p:cNvSpPr/>
          <p:nvPr/>
        </p:nvSpPr>
        <p:spPr>
          <a:xfrm>
            <a:off x="8933688" y="3712464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generado_por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10433304" y="3712464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320040" y="4389120"/>
            <a:ext cx="246888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1148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spare_parts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20040" y="4663440"/>
            <a:ext cx="24688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38328" y="4700016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74904" y="4736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64" name="Text 162"/>
          <p:cNvSpPr/>
          <p:nvPr/>
        </p:nvSpPr>
        <p:spPr>
          <a:xfrm>
            <a:off x="374904" y="4736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65" name="Text 163"/>
          <p:cNvSpPr/>
          <p:nvPr/>
        </p:nvSpPr>
        <p:spPr>
          <a:xfrm>
            <a:off x="612648" y="4727448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1702613" y="4727448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338328" y="4901184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11480" y="4928616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part_number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1702613" y="4928616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170" name="Shape 168"/>
          <p:cNvSpPr/>
          <p:nvPr/>
        </p:nvSpPr>
        <p:spPr>
          <a:xfrm>
            <a:off x="338328" y="5102352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11480" y="5129784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name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702613" y="5129784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338328" y="5303520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11480" y="5330952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stock_qty</a:t>
            </a:r>
            <a:endParaRPr lang="en-US" sz="700" dirty="0"/>
          </a:p>
        </p:txBody>
      </p:sp>
      <p:sp>
        <p:nvSpPr>
          <p:cNvPr id="175" name="Text 173"/>
          <p:cNvSpPr/>
          <p:nvPr/>
        </p:nvSpPr>
        <p:spPr>
          <a:xfrm>
            <a:off x="1702613" y="5330952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338328" y="5504688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11480" y="5532120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min_stock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702613" y="5532120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338328" y="5705856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11480" y="5733288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unit_cost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1702613" y="5733288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decimal(8,2)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338328" y="5907024"/>
            <a:ext cx="24323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11480" y="5934456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supplier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702613" y="5934456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38328" y="6108192"/>
            <a:ext cx="24323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11480" y="6135624"/>
            <a:ext cx="1036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is_active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1702613" y="6135624"/>
            <a:ext cx="10131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2971800" y="4389120"/>
            <a:ext cx="2743200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306324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maintenance_predictions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2971800" y="4663440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990088" y="4700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026664" y="4736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93" name="Text 191"/>
          <p:cNvSpPr/>
          <p:nvPr/>
        </p:nvSpPr>
        <p:spPr>
          <a:xfrm>
            <a:off x="3026664" y="4736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94" name="Text 192"/>
          <p:cNvSpPr/>
          <p:nvPr/>
        </p:nvSpPr>
        <p:spPr>
          <a:xfrm>
            <a:off x="3264408" y="4727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07992" y="4727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2990088" y="4901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026664" y="4937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98" name="Text 196"/>
          <p:cNvSpPr/>
          <p:nvPr/>
        </p:nvSpPr>
        <p:spPr>
          <a:xfrm>
            <a:off x="3026664" y="4937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99" name="Text 197"/>
          <p:cNvSpPr/>
          <p:nvPr/>
        </p:nvSpPr>
        <p:spPr>
          <a:xfrm>
            <a:off x="3264408" y="4928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vehiculo_id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07992" y="4928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01" name="Shape 199"/>
          <p:cNvSpPr/>
          <p:nvPr/>
        </p:nvSpPr>
        <p:spPr>
          <a:xfrm>
            <a:off x="2990088" y="5102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063240" y="5129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componente</a:t>
            </a:r>
            <a:endParaRPr lang="en-US" sz="700" dirty="0"/>
          </a:p>
        </p:txBody>
      </p:sp>
      <p:sp>
        <p:nvSpPr>
          <p:cNvPr id="203" name="Text 201"/>
          <p:cNvSpPr/>
          <p:nvPr/>
        </p:nvSpPr>
        <p:spPr>
          <a:xfrm>
            <a:off x="4507992" y="5129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2990088" y="5303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063240" y="5330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nivel_riesgo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07992" y="5330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(low|med|high|critical)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2990088" y="5504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063240" y="5532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km_estimado_falla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4507992" y="5532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210" name="Shape 208"/>
          <p:cNvSpPr/>
          <p:nvPr/>
        </p:nvSpPr>
        <p:spPr>
          <a:xfrm>
            <a:off x="2990088" y="5705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3063240" y="5733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costo_preventivo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4507992" y="5733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13" name="Shape 211"/>
          <p:cNvSpPr/>
          <p:nvPr/>
        </p:nvSpPr>
        <p:spPr>
          <a:xfrm>
            <a:off x="2990088" y="5907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063240" y="5934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costo_correctivo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4507992" y="5934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216" name="Shape 214"/>
          <p:cNvSpPr/>
          <p:nvPr/>
        </p:nvSpPr>
        <p:spPr>
          <a:xfrm>
            <a:off x="2990088" y="6108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063240" y="6135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resumen_ia</a:t>
            </a:r>
            <a:endParaRPr lang="en-US" sz="700" dirty="0"/>
          </a:p>
        </p:txBody>
      </p:sp>
      <p:sp>
        <p:nvSpPr>
          <p:cNvPr id="218" name="Text 216"/>
          <p:cNvSpPr/>
          <p:nvPr/>
        </p:nvSpPr>
        <p:spPr>
          <a:xfrm>
            <a:off x="4507992" y="6135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 (Claude API)</a:t>
            </a:r>
            <a:endParaRPr lang="en-US" sz="650" dirty="0"/>
          </a:p>
        </p:txBody>
      </p:sp>
      <p:sp>
        <p:nvSpPr>
          <p:cNvPr id="219" name="Shape 217"/>
          <p:cNvSpPr/>
          <p:nvPr/>
        </p:nvSpPr>
        <p:spPr>
          <a:xfrm>
            <a:off x="2990088" y="6309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3063240" y="6336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analizado_at</a:t>
            </a:r>
            <a:endParaRPr lang="en-US" sz="700" dirty="0"/>
          </a:p>
        </p:txBody>
      </p:sp>
      <p:sp>
        <p:nvSpPr>
          <p:cNvPr id="221" name="Text 219"/>
          <p:cNvSpPr/>
          <p:nvPr/>
        </p:nvSpPr>
        <p:spPr>
          <a:xfrm>
            <a:off x="4507992" y="6336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222" name="Shape 220"/>
          <p:cNvSpPr/>
          <p:nvPr/>
        </p:nvSpPr>
        <p:spPr>
          <a:xfrm>
            <a:off x="5897880" y="4389120"/>
            <a:ext cx="2743200" cy="27432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98932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alertas_mantenimiento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5897880" y="466344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916168" y="4700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952744" y="4736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227" name="Text 225"/>
          <p:cNvSpPr/>
          <p:nvPr/>
        </p:nvSpPr>
        <p:spPr>
          <a:xfrm>
            <a:off x="5952744" y="4736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228" name="Text 226"/>
          <p:cNvSpPr/>
          <p:nvPr/>
        </p:nvSpPr>
        <p:spPr>
          <a:xfrm>
            <a:off x="6190488" y="4727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229" name="Text 227"/>
          <p:cNvSpPr/>
          <p:nvPr/>
        </p:nvSpPr>
        <p:spPr>
          <a:xfrm>
            <a:off x="7434072" y="4727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230" name="Shape 228"/>
          <p:cNvSpPr/>
          <p:nvPr/>
        </p:nvSpPr>
        <p:spPr>
          <a:xfrm>
            <a:off x="5916168" y="4901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952744" y="4937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32" name="Text 230"/>
          <p:cNvSpPr/>
          <p:nvPr/>
        </p:nvSpPr>
        <p:spPr>
          <a:xfrm>
            <a:off x="5952744" y="4937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33" name="Text 231"/>
          <p:cNvSpPr/>
          <p:nvPr/>
        </p:nvSpPr>
        <p:spPr>
          <a:xfrm>
            <a:off x="6190488" y="4928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vehiculo_id</a:t>
            </a:r>
            <a:endParaRPr lang="en-US" sz="700" dirty="0"/>
          </a:p>
        </p:txBody>
      </p:sp>
      <p:sp>
        <p:nvSpPr>
          <p:cNvPr id="234" name="Text 232"/>
          <p:cNvSpPr/>
          <p:nvPr/>
        </p:nvSpPr>
        <p:spPr>
          <a:xfrm>
            <a:off x="7434072" y="4928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35" name="Shape 233"/>
          <p:cNvSpPr/>
          <p:nvPr/>
        </p:nvSpPr>
        <p:spPr>
          <a:xfrm>
            <a:off x="5916168" y="5102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952744" y="5138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37" name="Text 235"/>
          <p:cNvSpPr/>
          <p:nvPr/>
        </p:nvSpPr>
        <p:spPr>
          <a:xfrm>
            <a:off x="5952744" y="5138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38" name="Text 236"/>
          <p:cNvSpPr/>
          <p:nvPr/>
        </p:nvSpPr>
        <p:spPr>
          <a:xfrm>
            <a:off x="6190488" y="5129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plan_id</a:t>
            </a:r>
            <a:endParaRPr lang="en-US" sz="700" dirty="0"/>
          </a:p>
        </p:txBody>
      </p:sp>
      <p:sp>
        <p:nvSpPr>
          <p:cNvPr id="239" name="Text 237"/>
          <p:cNvSpPr/>
          <p:nvPr/>
        </p:nvSpPr>
        <p:spPr>
          <a:xfrm>
            <a:off x="7434072" y="5129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40" name="Shape 238"/>
          <p:cNvSpPr/>
          <p:nvPr/>
        </p:nvSpPr>
        <p:spPr>
          <a:xfrm>
            <a:off x="5916168" y="5303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5989320" y="5330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tipo_alerta</a:t>
            </a:r>
            <a:endParaRPr lang="en-US" sz="700" dirty="0"/>
          </a:p>
        </p:txBody>
      </p:sp>
      <p:sp>
        <p:nvSpPr>
          <p:cNvPr id="242" name="Text 240"/>
          <p:cNvSpPr/>
          <p:nvPr/>
        </p:nvSpPr>
        <p:spPr>
          <a:xfrm>
            <a:off x="7434072" y="5330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243" name="Shape 241"/>
          <p:cNvSpPr/>
          <p:nvPr/>
        </p:nvSpPr>
        <p:spPr>
          <a:xfrm>
            <a:off x="5916168" y="5504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989320" y="5532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urgencia</a:t>
            </a:r>
            <a:endParaRPr lang="en-US" sz="700" dirty="0"/>
          </a:p>
        </p:txBody>
      </p:sp>
      <p:sp>
        <p:nvSpPr>
          <p:cNvPr id="245" name="Text 243"/>
          <p:cNvSpPr/>
          <p:nvPr/>
        </p:nvSpPr>
        <p:spPr>
          <a:xfrm>
            <a:off x="7434072" y="5532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246" name="Shape 244"/>
          <p:cNvSpPr/>
          <p:nvPr/>
        </p:nvSpPr>
        <p:spPr>
          <a:xfrm>
            <a:off x="5916168" y="5705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989320" y="5733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km_vencimiento</a:t>
            </a:r>
            <a:endParaRPr lang="en-US" sz="700" dirty="0"/>
          </a:p>
        </p:txBody>
      </p:sp>
      <p:sp>
        <p:nvSpPr>
          <p:cNvPr id="248" name="Text 246"/>
          <p:cNvSpPr/>
          <p:nvPr/>
        </p:nvSpPr>
        <p:spPr>
          <a:xfrm>
            <a:off x="7434072" y="5733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249" name="Shape 247"/>
          <p:cNvSpPr/>
          <p:nvPr/>
        </p:nvSpPr>
        <p:spPr>
          <a:xfrm>
            <a:off x="5916168" y="5907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5989320" y="5934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fecha_vencimiento</a:t>
            </a:r>
            <a:endParaRPr lang="en-US" sz="700" dirty="0"/>
          </a:p>
        </p:txBody>
      </p:sp>
      <p:sp>
        <p:nvSpPr>
          <p:cNvPr id="251" name="Text 249"/>
          <p:cNvSpPr/>
          <p:nvPr/>
        </p:nvSpPr>
        <p:spPr>
          <a:xfrm>
            <a:off x="7434072" y="5934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252" name="Shape 250"/>
          <p:cNvSpPr/>
          <p:nvPr/>
        </p:nvSpPr>
        <p:spPr>
          <a:xfrm>
            <a:off x="5916168" y="6108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989320" y="6135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notificacion_enviada</a:t>
            </a:r>
            <a:endParaRPr lang="en-US" sz="700" dirty="0"/>
          </a:p>
        </p:txBody>
      </p:sp>
      <p:sp>
        <p:nvSpPr>
          <p:cNvPr id="254" name="Text 252"/>
          <p:cNvSpPr/>
          <p:nvPr/>
        </p:nvSpPr>
        <p:spPr>
          <a:xfrm>
            <a:off x="7434072" y="6135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55" name="Shape 253"/>
          <p:cNvSpPr/>
          <p:nvPr/>
        </p:nvSpPr>
        <p:spPr>
          <a:xfrm>
            <a:off x="5916168" y="6309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989320" y="6336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is_resolved</a:t>
            </a:r>
            <a:endParaRPr lang="en-US" sz="700" dirty="0"/>
          </a:p>
        </p:txBody>
      </p:sp>
      <p:sp>
        <p:nvSpPr>
          <p:cNvPr id="257" name="Text 255"/>
          <p:cNvSpPr/>
          <p:nvPr/>
        </p:nvSpPr>
        <p:spPr>
          <a:xfrm>
            <a:off x="7434072" y="6336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58" name="Shape 256"/>
          <p:cNvSpPr/>
          <p:nvPr/>
        </p:nvSpPr>
        <p:spPr>
          <a:xfrm>
            <a:off x="5916168" y="6510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989320" y="6537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260" name="Text 258"/>
          <p:cNvSpPr/>
          <p:nvPr/>
        </p:nvSpPr>
        <p:spPr>
          <a:xfrm>
            <a:off x="7434072" y="6537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261" name="Shape 259"/>
          <p:cNvSpPr/>
          <p:nvPr/>
        </p:nvSpPr>
        <p:spPr>
          <a:xfrm>
            <a:off x="8641080" y="4389120"/>
            <a:ext cx="3200400" cy="822960"/>
          </a:xfrm>
          <a:prstGeom prst="rect">
            <a:avLst/>
          </a:prstGeom>
          <a:solidFill>
            <a:srgbClr val="EAF3DE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732520" y="444398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Leak Detector — SQL</a:t>
            </a:r>
            <a:endParaRPr lang="en-US" sz="800" dirty="0"/>
          </a:p>
        </p:txBody>
      </p:sp>
      <p:sp>
        <p:nvSpPr>
          <p:cNvPr id="263" name="Text 261"/>
          <p:cNvSpPr/>
          <p:nvPr/>
        </p:nvSpPr>
        <p:spPr>
          <a:xfrm>
            <a:off x="8732520" y="46268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SELECT vehiculo_id, SUM(CASE tipo='preventive' THEN costo_total END) prev, SUM(CASE tipo='corrective' THEN costo_total END) corr FROM maintenance_records GROUP BY vehiculo_id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D6B5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KPIs + COMBUSTIBLE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E"/>
                </a:solidFill>
              </a:rPr>
              <a:t>kpi_snapshots · fleet_summaries · fuel_records · fuel_anomalies · fuel_cards · driver_scores · fatigue_records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274320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kpi_snapshots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7432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5623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snapshot_date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5623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3832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61264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5623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(nullable)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3832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cost_per_km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85623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decimal(8,4)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3832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km_per_liter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5623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decimal(6,3)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3832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mechanical_availability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85623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decimal(5,2) %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3832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mtbf_days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5623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decimal(6,2)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3832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mttr_hours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5623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decimal(6,2)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832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speeding_events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85623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3832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idle_hours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85623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decimal(6,2)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3832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fuel_cost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85623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38328" y="3483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511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maintenance_cost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856232" y="3511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38328" y="36850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7124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UNIQUE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856232" y="37124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(snapshot_date, vehicle_id)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246120" y="960120"/>
            <a:ext cx="265176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fleet_summaries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46120" y="1234440"/>
            <a:ext cx="265176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64408" y="127101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0098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56" name="Text 54"/>
          <p:cNvSpPr/>
          <p:nvPr/>
        </p:nvSpPr>
        <p:spPr>
          <a:xfrm>
            <a:off x="330098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3538728" y="129844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731106" y="129844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264408" y="147218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149961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summary_date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31106" y="149961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264408" y="167335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170078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period_type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731106" y="170078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(daily|weekly|monthly)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3264408" y="1874520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0098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67" name="Text 65"/>
          <p:cNvSpPr/>
          <p:nvPr/>
        </p:nvSpPr>
        <p:spPr>
          <a:xfrm>
            <a:off x="330098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3538728" y="190195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region_id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731106" y="190195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264408" y="2075688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210312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total_vehicles_active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731106" y="210312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264408" y="2276856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7560" y="230428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total_km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731106" y="230428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264408" y="2478024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37560" y="250545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total_fuel_liters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731106" y="250545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decimal(8,2)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264408" y="2679192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37560" y="270662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total_fuel_cost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731106" y="270662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3264408" y="2880360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37560" y="290779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total_maint_cost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4731106" y="290779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3264408" y="3081528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37560" y="310896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avg_cost_per_km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731106" y="310896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decimal(8,4)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3264408" y="328269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37560" y="331012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avg_km_per_liter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731106" y="331012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decimal(6,3)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3264408" y="348386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37560" y="351129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fleet_availability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731106" y="351129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decimal(5,2) %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264408" y="368503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371246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ai_savings_estimated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731106" y="371246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6080760" y="960120"/>
            <a:ext cx="274320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7220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fuel_records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080760" y="1234440"/>
            <a:ext cx="27432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9904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3562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2" name="Text 100"/>
          <p:cNvSpPr/>
          <p:nvPr/>
        </p:nvSpPr>
        <p:spPr>
          <a:xfrm>
            <a:off x="613562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03" name="Text 101"/>
          <p:cNvSpPr/>
          <p:nvPr/>
        </p:nvSpPr>
        <p:spPr>
          <a:xfrm>
            <a:off x="637336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761695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609904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13562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07" name="Text 105"/>
          <p:cNvSpPr/>
          <p:nvPr/>
        </p:nvSpPr>
        <p:spPr>
          <a:xfrm>
            <a:off x="613562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08" name="Text 106"/>
          <p:cNvSpPr/>
          <p:nvPr/>
        </p:nvSpPr>
        <p:spPr>
          <a:xfrm>
            <a:off x="637336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761695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609904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13562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12" name="Text 110"/>
          <p:cNvSpPr/>
          <p:nvPr/>
        </p:nvSpPr>
        <p:spPr>
          <a:xfrm>
            <a:off x="613562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13" name="Text 111"/>
          <p:cNvSpPr/>
          <p:nvPr/>
        </p:nvSpPr>
        <p:spPr>
          <a:xfrm>
            <a:off x="637336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761695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609904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3562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17" name="Text 115"/>
          <p:cNvSpPr/>
          <p:nvPr/>
        </p:nvSpPr>
        <p:spPr>
          <a:xfrm>
            <a:off x="613562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18" name="Text 116"/>
          <p:cNvSpPr/>
          <p:nvPr/>
        </p:nvSpPr>
        <p:spPr>
          <a:xfrm>
            <a:off x="6373368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trip_id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761695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609904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7220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liters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61695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decimal(6,2)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609904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7220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total_cost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761695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decimal(8,2)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609904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7220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km_at_refuel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61695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609904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17220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fuel_card_id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761695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varchar(20)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609904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17220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station_name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61695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varchar(100)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609904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17220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receipt_photo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761695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varchar(500)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609904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172200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is_anomaly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761695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6099048" y="3483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172200" y="3511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anomaly_type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7616952" y="3511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varchar(30)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6099048" y="36850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172200" y="37124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recorded_at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7616952" y="37124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9006840" y="960120"/>
            <a:ext cx="2834640" cy="274320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09828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fuel_anomalies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9006840" y="1234440"/>
            <a:ext cx="283464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025128" y="1271016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0617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52" name="Text 150"/>
          <p:cNvSpPr/>
          <p:nvPr/>
        </p:nvSpPr>
        <p:spPr>
          <a:xfrm>
            <a:off x="90617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53" name="Text 151"/>
          <p:cNvSpPr/>
          <p:nvPr/>
        </p:nvSpPr>
        <p:spPr>
          <a:xfrm>
            <a:off x="9299448" y="129844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10594238" y="129844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9025128" y="1472184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0617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57" name="Text 155"/>
          <p:cNvSpPr/>
          <p:nvPr/>
        </p:nvSpPr>
        <p:spPr>
          <a:xfrm>
            <a:off x="90617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58" name="Text 156"/>
          <p:cNvSpPr/>
          <p:nvPr/>
        </p:nvSpPr>
        <p:spPr>
          <a:xfrm>
            <a:off x="9299448" y="149961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10594238" y="149961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9025128" y="1673352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0617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62" name="Text 160"/>
          <p:cNvSpPr/>
          <p:nvPr/>
        </p:nvSpPr>
        <p:spPr>
          <a:xfrm>
            <a:off x="90617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63" name="Text 161"/>
          <p:cNvSpPr/>
          <p:nvPr/>
        </p:nvSpPr>
        <p:spPr>
          <a:xfrm>
            <a:off x="9299448" y="170078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10594238" y="170078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9025128" y="1874520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098280" y="1901952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anomaly_type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0594238" y="1901952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9025128" y="2075688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9098280" y="2103120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10594238" y="2103120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9025128" y="2276856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098280" y="2304288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severity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0594238" y="2304288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74" name="Shape 172"/>
          <p:cNvSpPr/>
          <p:nvPr/>
        </p:nvSpPr>
        <p:spPr>
          <a:xfrm>
            <a:off x="9025128" y="2478024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098280" y="2505456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estimated_loss</a:t>
            </a:r>
            <a:endParaRPr lang="en-US" sz="700" dirty="0"/>
          </a:p>
        </p:txBody>
      </p:sp>
      <p:sp>
        <p:nvSpPr>
          <p:cNvPr id="176" name="Text 174"/>
          <p:cNvSpPr/>
          <p:nvPr/>
        </p:nvSpPr>
        <p:spPr>
          <a:xfrm>
            <a:off x="10594238" y="2505456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decimal(8,2)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9025128" y="2679192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098280" y="2706624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claude_analysis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0594238" y="2706624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9025128" y="2880360"/>
            <a:ext cx="279806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098280" y="2907792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is_resolved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10594238" y="2907792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9025128" y="3081528"/>
            <a:ext cx="279806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9098280" y="3108960"/>
            <a:ext cx="119054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detected_at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10594238" y="3108960"/>
            <a:ext cx="11740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320040" y="4572000"/>
            <a:ext cx="2743200" cy="27432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1148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driver_scores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320040" y="4846320"/>
            <a:ext cx="274320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38328" y="48828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74904" y="491947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91" name="Text 189"/>
          <p:cNvSpPr/>
          <p:nvPr/>
        </p:nvSpPr>
        <p:spPr>
          <a:xfrm>
            <a:off x="374904" y="49194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92" name="Text 190"/>
          <p:cNvSpPr/>
          <p:nvPr/>
        </p:nvSpPr>
        <p:spPr>
          <a:xfrm>
            <a:off x="612648" y="49103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1856232" y="49103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338328" y="50840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4904" y="51206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96" name="Text 194"/>
          <p:cNvSpPr/>
          <p:nvPr/>
        </p:nvSpPr>
        <p:spPr>
          <a:xfrm>
            <a:off x="374904" y="512064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97" name="Text 195"/>
          <p:cNvSpPr/>
          <p:nvPr/>
        </p:nvSpPr>
        <p:spPr>
          <a:xfrm>
            <a:off x="612648" y="51114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98" name="Text 196"/>
          <p:cNvSpPr/>
          <p:nvPr/>
        </p:nvSpPr>
        <p:spPr>
          <a:xfrm>
            <a:off x="1856232" y="51114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338328" y="52852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11480" y="53126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score_date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1856232" y="53126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338328" y="548640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11480" y="551383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total_score</a:t>
            </a:r>
            <a:endParaRPr lang="en-US" sz="700" dirty="0"/>
          </a:p>
        </p:txBody>
      </p:sp>
      <p:sp>
        <p:nvSpPr>
          <p:cNvPr id="204" name="Text 202"/>
          <p:cNvSpPr/>
          <p:nvPr/>
        </p:nvSpPr>
        <p:spPr>
          <a:xfrm>
            <a:off x="1856232" y="551383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 (0-100)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338328" y="568756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411480" y="57150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harsh_braking_count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1856232" y="571500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338328" y="588873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11480" y="591616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harsh_accel_count</a:t>
            </a:r>
            <a:endParaRPr lang="en-US" sz="700" dirty="0"/>
          </a:p>
        </p:txBody>
      </p:sp>
      <p:sp>
        <p:nvSpPr>
          <p:cNvPr id="210" name="Text 208"/>
          <p:cNvSpPr/>
          <p:nvPr/>
        </p:nvSpPr>
        <p:spPr>
          <a:xfrm>
            <a:off x="1856232" y="591616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338328" y="608990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411480" y="611733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speeding_count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1856232" y="611733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338328" y="629107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11480" y="631850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idle_minutes</a:t>
            </a:r>
            <a:endParaRPr lang="en-US" sz="700" dirty="0"/>
          </a:p>
        </p:txBody>
      </p:sp>
      <p:sp>
        <p:nvSpPr>
          <p:cNvPr id="216" name="Text 214"/>
          <p:cNvSpPr/>
          <p:nvPr/>
        </p:nvSpPr>
        <p:spPr>
          <a:xfrm>
            <a:off x="1856232" y="631850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338328" y="649224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11480" y="65196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km_per_liter</a:t>
            </a:r>
            <a:endParaRPr lang="en-US" sz="700" dirty="0"/>
          </a:p>
        </p:txBody>
      </p:sp>
      <p:sp>
        <p:nvSpPr>
          <p:cNvPr id="219" name="Text 217"/>
          <p:cNvSpPr/>
          <p:nvPr/>
        </p:nvSpPr>
        <p:spPr>
          <a:xfrm>
            <a:off x="1856232" y="651967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decimal(6,3)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3246120" y="4572000"/>
            <a:ext cx="265176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333756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fatigue_records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3246120" y="4846320"/>
            <a:ext cx="26517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264408" y="488289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300984" y="491947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225" name="Text 223"/>
          <p:cNvSpPr/>
          <p:nvPr/>
        </p:nvSpPr>
        <p:spPr>
          <a:xfrm>
            <a:off x="3300984" y="49194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226" name="Text 224"/>
          <p:cNvSpPr/>
          <p:nvPr/>
        </p:nvSpPr>
        <p:spPr>
          <a:xfrm>
            <a:off x="3538728" y="491032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227" name="Text 225"/>
          <p:cNvSpPr/>
          <p:nvPr/>
        </p:nvSpPr>
        <p:spPr>
          <a:xfrm>
            <a:off x="4731106" y="491032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228" name="Shape 226"/>
          <p:cNvSpPr/>
          <p:nvPr/>
        </p:nvSpPr>
        <p:spPr>
          <a:xfrm>
            <a:off x="3264408" y="508406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300984" y="512064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30" name="Text 228"/>
          <p:cNvSpPr/>
          <p:nvPr/>
        </p:nvSpPr>
        <p:spPr>
          <a:xfrm>
            <a:off x="3300984" y="512064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31" name="Text 229"/>
          <p:cNvSpPr/>
          <p:nvPr/>
        </p:nvSpPr>
        <p:spPr>
          <a:xfrm>
            <a:off x="3538728" y="511149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232" name="Text 230"/>
          <p:cNvSpPr/>
          <p:nvPr/>
        </p:nvSpPr>
        <p:spPr>
          <a:xfrm>
            <a:off x="4731106" y="511149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233" name="Shape 231"/>
          <p:cNvSpPr/>
          <p:nvPr/>
        </p:nvSpPr>
        <p:spPr>
          <a:xfrm>
            <a:off x="3264408" y="528523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3337560" y="531266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work_date</a:t>
            </a:r>
            <a:endParaRPr lang="en-US" sz="700" dirty="0"/>
          </a:p>
        </p:txBody>
      </p:sp>
      <p:sp>
        <p:nvSpPr>
          <p:cNvPr id="235" name="Text 233"/>
          <p:cNvSpPr/>
          <p:nvPr/>
        </p:nvSpPr>
        <p:spPr>
          <a:xfrm>
            <a:off x="4731106" y="531266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236" name="Shape 234"/>
          <p:cNvSpPr/>
          <p:nvPr/>
        </p:nvSpPr>
        <p:spPr>
          <a:xfrm>
            <a:off x="3264408" y="5486400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337560" y="551383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hours_driven</a:t>
            </a:r>
            <a:endParaRPr lang="en-US" sz="700" dirty="0"/>
          </a:p>
        </p:txBody>
      </p:sp>
      <p:sp>
        <p:nvSpPr>
          <p:cNvPr id="238" name="Text 236"/>
          <p:cNvSpPr/>
          <p:nvPr/>
        </p:nvSpPr>
        <p:spPr>
          <a:xfrm>
            <a:off x="4731106" y="551383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decimal(4,2)</a:t>
            </a:r>
            <a:endParaRPr lang="en-US" sz="650" dirty="0"/>
          </a:p>
        </p:txBody>
      </p:sp>
      <p:sp>
        <p:nvSpPr>
          <p:cNvPr id="239" name="Shape 237"/>
          <p:cNvSpPr/>
          <p:nvPr/>
        </p:nvSpPr>
        <p:spPr>
          <a:xfrm>
            <a:off x="3264408" y="5687568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3337560" y="571500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breaks_taken</a:t>
            </a:r>
            <a:endParaRPr lang="en-US" sz="700" dirty="0"/>
          </a:p>
        </p:txBody>
      </p:sp>
      <p:sp>
        <p:nvSpPr>
          <p:cNvPr id="241" name="Text 239"/>
          <p:cNvSpPr/>
          <p:nvPr/>
        </p:nvSpPr>
        <p:spPr>
          <a:xfrm>
            <a:off x="4731106" y="571500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smallint</a:t>
            </a:r>
            <a:endParaRPr lang="en-US" sz="650" dirty="0"/>
          </a:p>
        </p:txBody>
      </p:sp>
      <p:sp>
        <p:nvSpPr>
          <p:cNvPr id="242" name="Shape 240"/>
          <p:cNvSpPr/>
          <p:nvPr/>
        </p:nvSpPr>
        <p:spPr>
          <a:xfrm>
            <a:off x="3264408" y="5888736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337560" y="591616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limit_reached</a:t>
            </a:r>
            <a:endParaRPr lang="en-US" sz="700" dirty="0"/>
          </a:p>
        </p:txBody>
      </p:sp>
      <p:sp>
        <p:nvSpPr>
          <p:cNvPr id="244" name="Text 242"/>
          <p:cNvSpPr/>
          <p:nvPr/>
        </p:nvSpPr>
        <p:spPr>
          <a:xfrm>
            <a:off x="4731106" y="591616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245" name="Shape 243"/>
          <p:cNvSpPr/>
          <p:nvPr/>
        </p:nvSpPr>
        <p:spPr>
          <a:xfrm>
            <a:off x="3264408" y="6089904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3337560" y="611733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last_break_at</a:t>
            </a:r>
            <a:endParaRPr lang="en-US" sz="700" dirty="0"/>
          </a:p>
        </p:txBody>
      </p:sp>
      <p:sp>
        <p:nvSpPr>
          <p:cNvPr id="247" name="Text 245"/>
          <p:cNvSpPr/>
          <p:nvPr/>
        </p:nvSpPr>
        <p:spPr>
          <a:xfrm>
            <a:off x="4731106" y="611733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248" name="Shape 246"/>
          <p:cNvSpPr/>
          <p:nvPr/>
        </p:nvSpPr>
        <p:spPr>
          <a:xfrm>
            <a:off x="6080760" y="4572000"/>
            <a:ext cx="57607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190488" y="4663440"/>
            <a:ext cx="5541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Cron nocturno: calcular KPIs del día (Supabase Edge Function)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kpi_snapshots (snapshot_date, vehicle_id,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cost_per_km, km_per_liter, mechanical_availability)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CURRENT_DATE,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v.id,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ROUND((SUM(fr.total_cost) + SUM(mr.costo_total)) /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NULLIF(SUM(gt.km_recorridos), 0), 4),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ROUND(SUM(fr.liters) /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NULLIF(SUM(gt.km_recorridos), 0), 3),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(1 - SUM(downtime_hours) / 24), 2)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vehicles v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fuel_records fr ON fr.vehicle_id = v.id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fr.recorded_at::date = CURRENT_DATE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maintenance_records mr ON mr.vehiculo_id = v.id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mr.fecha_servicio = CURRENT_DATE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v.id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 (snapshot_date, vehicle_id) DO UPDATE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cost_per_km = EXCLUDED.cost_per_km;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 · BÓVEDA DOCUMENTAL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E"/>
                </a:solidFill>
              </a:rPr>
              <a:t>fleet_documents · document_alerts · rental_contracts · driver_rewards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926080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fleet_documents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9260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271016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2648" y="129844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58645" y="129844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38328" y="1472184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612648" y="149961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58645" y="149961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(nullable)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38328" y="1673352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612648" y="170078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58645" y="170078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(nullable)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38328" y="1874520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" y="1911096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" y="1911096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612648" y="1901952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provider_id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58645" y="1901952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(nullable)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38328" y="2075688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103120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document_type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58645" y="2103120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38328" y="2276856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30428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expiry_date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958645" y="230428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 NOT NULL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38328" y="2478024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50545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file_path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958645" y="250545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varchar(500)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38328" y="2679192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70662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is_expired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958645" y="270662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 (calculado)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38328" y="2880360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907792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days_until_expiry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958645" y="2907792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 (calculado)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38328" y="3081528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904" y="3118104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374904" y="311810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612648" y="3108960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uploaded_by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58645" y="3108960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38328" y="3282696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31012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notes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958645" y="331012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38328" y="3483864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51129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created_at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958645" y="351129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429000" y="960120"/>
            <a:ext cx="2651760" cy="2743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document_alerts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29000" y="1234440"/>
            <a:ext cx="26517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47288" y="1271016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8386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59" name="Text 57"/>
          <p:cNvSpPr/>
          <p:nvPr/>
        </p:nvSpPr>
        <p:spPr>
          <a:xfrm>
            <a:off x="348386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3721608" y="129844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913986" y="129844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447288" y="1472184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8386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64" name="Text 62"/>
          <p:cNvSpPr/>
          <p:nvPr/>
        </p:nvSpPr>
        <p:spPr>
          <a:xfrm>
            <a:off x="348386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3721608" y="149961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document_id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913986" y="149961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447288" y="1673352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20440" y="1700784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days_before_expiry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913986" y="1700784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 (30|15|7|0)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447288" y="1874520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20440" y="1901952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notification_sent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913986" y="1901952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447288" y="2075688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20440" y="2103120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sent_at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913986" y="2103120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447288" y="2276856"/>
            <a:ext cx="261518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20440" y="2304288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notified_to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913986" y="2304288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[emails]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447288" y="2478024"/>
            <a:ext cx="261518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20440" y="2505456"/>
            <a:ext cx="11137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is_resolved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913986" y="2505456"/>
            <a:ext cx="1093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263640" y="960120"/>
            <a:ext cx="2743200" cy="2743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5508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rental_contracts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263640" y="1234440"/>
            <a:ext cx="27432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81928" y="127101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1850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87" name="Text 85"/>
          <p:cNvSpPr/>
          <p:nvPr/>
        </p:nvSpPr>
        <p:spPr>
          <a:xfrm>
            <a:off x="631850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6556248" y="129844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799832" y="129844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6281928" y="147218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1850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92" name="Text 90"/>
          <p:cNvSpPr/>
          <p:nvPr/>
        </p:nvSpPr>
        <p:spPr>
          <a:xfrm>
            <a:off x="631850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6556248" y="149961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vehicle_id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799832" y="14996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6281928" y="167335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18504" y="1709928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97" name="Text 95"/>
          <p:cNvSpPr/>
          <p:nvPr/>
        </p:nvSpPr>
        <p:spPr>
          <a:xfrm>
            <a:off x="6318504" y="1709928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98" name="Text 96"/>
          <p:cNvSpPr/>
          <p:nvPr/>
        </p:nvSpPr>
        <p:spPr>
          <a:xfrm>
            <a:off x="6556248" y="170078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provider_id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7799832" y="17007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6281928" y="1874520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55080" y="190195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contract_number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7799832" y="190195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varchar(50)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6281928" y="2075688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55080" y="210312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start_date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7799832" y="21031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6281928" y="2276856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55080" y="23042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end_date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7799832" y="230428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6281928" y="2478024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55080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monthly_cost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799832" y="250545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decimal(10,2)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6281928" y="2679192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55080" y="270662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km_limit_monthly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7799832" y="270662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integer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6281928" y="2880360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355080" y="29077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conditions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799832" y="2907792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text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6281928" y="3081528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355080" y="31089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status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7799832" y="310896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 (active|expired|cancelled)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6281928" y="3282696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355080" y="33101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inspection_in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7799832" y="3310128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(fotos)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6281928" y="3483864"/>
            <a:ext cx="270662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355080" y="351129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inspection_out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7799832" y="351129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jsonb (fotos)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6281928" y="3685032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355080" y="37124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file_path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7799832" y="37124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varchar(500)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9189720" y="960120"/>
            <a:ext cx="2926080" cy="274320"/>
          </a:xfrm>
          <a:prstGeom prst="rect">
            <a:avLst/>
          </a:prstGeom>
          <a:solidFill>
            <a:srgbClr val="3B6D1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2811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driver_rewards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9189720" y="1234440"/>
            <a:ext cx="29260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208008" y="1271016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244584" y="1307592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</p:sp>
      <p:sp>
        <p:nvSpPr>
          <p:cNvPr id="135" name="Text 133"/>
          <p:cNvSpPr/>
          <p:nvPr/>
        </p:nvSpPr>
        <p:spPr>
          <a:xfrm>
            <a:off x="9244584" y="13075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2400E"/>
                </a:solidFill>
              </a:rPr>
              <a:t>PK</a:t>
            </a:r>
            <a:endParaRPr lang="en-US" sz="550" dirty="0"/>
          </a:p>
        </p:txBody>
      </p:sp>
      <p:sp>
        <p:nvSpPr>
          <p:cNvPr id="136" name="Text 134"/>
          <p:cNvSpPr/>
          <p:nvPr/>
        </p:nvSpPr>
        <p:spPr>
          <a:xfrm>
            <a:off x="9482328" y="129844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2B4E"/>
                </a:solidFill>
              </a:rPr>
              <a:t>id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10828325" y="129844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 PK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9208008" y="1472184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244584" y="1508760"/>
            <a:ext cx="201168" cy="118872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</p:sp>
      <p:sp>
        <p:nvSpPr>
          <p:cNvPr id="140" name="Text 138"/>
          <p:cNvSpPr/>
          <p:nvPr/>
        </p:nvSpPr>
        <p:spPr>
          <a:xfrm>
            <a:off x="9244584" y="1508760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E40AF"/>
                </a:solidFill>
              </a:rPr>
              <a:t>FK</a:t>
            </a:r>
            <a:endParaRPr lang="en-US" sz="550" dirty="0"/>
          </a:p>
        </p:txBody>
      </p:sp>
      <p:sp>
        <p:nvSpPr>
          <p:cNvPr id="141" name="Text 139"/>
          <p:cNvSpPr/>
          <p:nvPr/>
        </p:nvSpPr>
        <p:spPr>
          <a:xfrm>
            <a:off x="9482328" y="149961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driver_id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10828325" y="149961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uuid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9208008" y="1673352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281160" y="170078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reward_type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10828325" y="170078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enum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9208008" y="1874520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281160" y="1901952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10828325" y="1901952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varchar(200)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9208008" y="2075688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281160" y="2103120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awarded_date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10828325" y="2103120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date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9208008" y="2276856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281160" y="2304288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period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10828325" y="2304288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varchar(20) (YYYY-WW)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9208008" y="2478024"/>
            <a:ext cx="288950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281160" y="2505456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is_claimed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10828325" y="2505456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boolean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9208008" y="2679192"/>
            <a:ext cx="2889504" cy="182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281160" y="2706624"/>
            <a:ext cx="1228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claimed_at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10828325" y="2706624"/>
            <a:ext cx="12143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34AB7"/>
                </a:solidFill>
              </a:rPr>
              <a:t>timestamptz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320040" y="4297680"/>
            <a:ext cx="2926080" cy="640080"/>
          </a:xfrm>
          <a:prstGeom prst="rect">
            <a:avLst/>
          </a:prstGeom>
          <a:solidFill>
            <a:srgbClr val="FAECE7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11480" y="43525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document_type ENUM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411480" y="4535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soat · technical_revision · circulation_permit · insurance · rental_contract · driver_license · medical_cert · others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3429000" y="4297680"/>
            <a:ext cx="5394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538728" y="4389120"/>
            <a:ext cx="5175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Cron diario: generar alertas de vencimiento (00:00 UTC)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document_alerts (document_id, days_before_expiry)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fd.id,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(fd.expiry_date - CURRENT_DATE)::integer AS days_left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fleet_documents fd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fd.expiry_date - CURRENT_DATE IN (30, 15, 7, 3, 0)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NOT EXISTS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document_alerts da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da.document_id = fd.id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da.days_before_expiry =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(fd.expiry_date - CURRENT_DATE)::integer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da.notification_sent = true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 days_left &lt;= 0: actualizar vehicle status a 'out_of_service'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vehicles SET status = 'out_of_service'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IN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vehicle_id FROM fleet_documents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document_type = 'soat'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expiry_date &lt; CURRENT_DATE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9006840" y="4297680"/>
            <a:ext cx="3108960" cy="640080"/>
          </a:xfrm>
          <a:prstGeom prst="rect">
            <a:avLst/>
          </a:prstGeom>
          <a:solidFill>
            <a:srgbClr val="EAF3DE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098280" y="43525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reward_type ENUM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9098280" y="45354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mejor_conductor_semana · mejor_km_l · cero_eventos_mes · puntualidad · reconocimiento_especial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9006840" y="5010912"/>
            <a:ext cx="3108960" cy="822960"/>
          </a:xfrm>
          <a:prstGeom prst="rect">
            <a:avLst/>
          </a:prstGeom>
          <a:solidFill>
            <a:srgbClr val="E6F1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098280" y="50657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Storage — bucket fleet-docs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9098280" y="52486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Bucket PRIVADO. URLs firmadas con expiración 1h máximo. Nunca exponer path directo. Documentos organizados: /region/vehicle_id/doc_type/fecha.pdf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SEGURIDAD · RLS POLICIES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E"/>
                </a:solidFill>
              </a:rPr>
              <a:t>Row Level Security — Políticas por rol en cada tabla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vehicles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55848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drivers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288536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221224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tasks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53912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gps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086600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019288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9288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maint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951976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51976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docs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884664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84664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caja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817352" y="960120"/>
            <a:ext cx="896112" cy="25603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17352" y="9601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KPIs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" y="1261872"/>
            <a:ext cx="1179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1261872"/>
            <a:ext cx="54864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1353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Driver (app)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23160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355848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288536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221224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asig.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153912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086600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6B56"/>
                </a:solidFill>
              </a:rPr>
              <a:t>✏ crear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019288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951976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884664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6B56"/>
                </a:solidFill>
              </a:rPr>
              <a:t>✏ crear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0817352" y="13441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CCCCC"/>
                </a:solidFill>
              </a:rPr>
              <a:t>—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20040" y="1645920"/>
            <a:ext cx="1179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1645920"/>
            <a:ext cx="54864" cy="347472"/>
          </a:xfrm>
          <a:prstGeom prst="rect">
            <a:avLst/>
          </a:prstGeom>
          <a:solidFill>
            <a:srgbClr val="0D6B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Técnico (app)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423160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355848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288536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221224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6B56"/>
                </a:solidFill>
              </a:rPr>
              <a:t>✏ crear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153912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086600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6B56"/>
                </a:solidFill>
              </a:rPr>
              <a:t>✏ crear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019288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85FA5"/>
                </a:solidFill>
              </a:rPr>
              <a:t>👁 propio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8951976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CCCCC"/>
                </a:solidFill>
              </a:rPr>
              <a:t>—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884664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6B56"/>
                </a:solidFill>
              </a:rPr>
              <a:t>✏ crear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0817352" y="17282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CCCCC"/>
                </a:solidFill>
              </a:rPr>
              <a:t>—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20040" y="2029968"/>
            <a:ext cx="1179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2029968"/>
            <a:ext cx="54864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Supervisor zona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423160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355848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288536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221224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✏ zona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153912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086600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019288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951976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9884664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✏ zona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0817352" y="21122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A7517"/>
                </a:solidFill>
              </a:rPr>
              <a:t>👁 zona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20040" y="2414016"/>
            <a:ext cx="1179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2414016"/>
            <a:ext cx="54864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25054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Coordinador reg.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423160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355848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4288536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221224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6153912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086600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8019288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8951976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9884664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0817352" y="249631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20040" y="2798064"/>
            <a:ext cx="11795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0040" y="2798064"/>
            <a:ext cx="54864" cy="347472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" y="2889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Asistente reg.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423160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3355848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4288536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5221224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6153912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7086600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8019288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8951976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9884664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✏ región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10817352" y="288036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85A30"/>
                </a:solidFill>
              </a:rPr>
              <a:t>👁 región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320040" y="3182112"/>
            <a:ext cx="11795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0040" y="3182112"/>
            <a:ext cx="54864" cy="347472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0624" y="32735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B4E"/>
                </a:solidFill>
              </a:rPr>
              <a:t>Director OSC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2423160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👁 todo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3355848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👁 todo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288536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✏ todo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221224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✏ todo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6153912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👁 todo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7086600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👁 todo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8019288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✏ todo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8951976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✏ todo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9884664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✏ todo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10817352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B4E"/>
                </a:solidFill>
              </a:rPr>
              <a:t>✏ todo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320040" y="4187952"/>
            <a:ext cx="55778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9768" y="4279392"/>
            <a:ext cx="5358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RLS Policy: Supervisor ve solo sus teams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"supervisor_sees_own_teams"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trips FOR SELECT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team_id IN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t.id FROM teams 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zones z ON z.id = t.zone_id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z.supervisor_id = auth.uid()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RLS Policy: Driver ve solo su vehículo asignado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"driver_sees_own_vehicle"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gps_tracks FOR SELECT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vehicle_id IN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assigned_vehicle_id FROM drivers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user_id = auth.uid()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080760" y="4187952"/>
            <a:ext cx="576072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90488" y="4279392"/>
            <a:ext cx="5541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RLS Policy: Coordinador ve toda su región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"coordinator_sees_region"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petty_cash_transactions FOR ALL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region_id IN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 FROM regions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coordinator_id = auth.uid()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id IN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 region_id FROM staff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 user_id = auth.uid()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role IN ('coordinador','asistente')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RLS Policy: Técnico crea transacciones de campo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"tecnico_creates_transactions"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petty_cash_transactions FOR INSERT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CHECK (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staff_id = (SELECT id FROM staff WHERE user_id = auth.uid())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created_at::date = CURRENT_DATE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ERD · DIAGRAMA DE RELACIONES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E"/>
                </a:solidFill>
              </a:rPr>
              <a:t>Relaciones principales entre las 24 tablas del sistema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37760" y="2743200"/>
            <a:ext cx="2286000" cy="502920"/>
          </a:xfrm>
          <a:prstGeom prst="rect">
            <a:avLst/>
          </a:prstGeom>
          <a:solidFill>
            <a:srgbClr val="0F2B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vehicles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0" y="2743200"/>
            <a:ext cx="210312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drivers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185FA5">
              <a:alpha val="8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gps_tracks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0D6B56">
              <a:alpha val="80000"/>
            </a:srgbClr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trips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0D6B56">
              <a:alpha val="80000"/>
            </a:srgbClr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trip_events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0F2B4E">
              <a:alpha val="80000"/>
            </a:srgbClr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geofences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0" y="82296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822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plan_mantenimiento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0" y="182880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maintenance_records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0" y="283464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ordenes_trabajo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0" y="38404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checklist_submissions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0" y="484632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BA7517">
              <a:alpha val="8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fuel_records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37760" y="493776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D85A30">
              <a:alpha val="8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fleet_documents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37760" y="10972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0D6B56">
              <a:alpha val="80000"/>
            </a:srgbClr>
          </a:solidFill>
          <a:ln w="12700">
            <a:solidFill>
              <a:srgbClr val="0D6B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kpi_snapshots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223760" y="10972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A32D2D">
              <a:alpha val="80000"/>
            </a:srgbClr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petty_cash_transactions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23760" y="493776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tasks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692640" y="109728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BA7517">
              <a:alpha val="8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driving_events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692640" y="210312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driver_scores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692640" y="310896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fatigue_records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692640" y="411480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D85A30">
              <a:alpha val="8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rental_contracts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692640" y="5120640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A32D2D">
              <a:alpha val="80000"/>
            </a:srgbClr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alerts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94176" y="1188720"/>
            <a:ext cx="2386584" cy="1801368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46" name="Shape 44"/>
          <p:cNvSpPr/>
          <p:nvPr/>
        </p:nvSpPr>
        <p:spPr>
          <a:xfrm>
            <a:off x="3694176" y="2286000"/>
            <a:ext cx="2386584" cy="704088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47" name="Shape 45"/>
          <p:cNvSpPr/>
          <p:nvPr/>
        </p:nvSpPr>
        <p:spPr>
          <a:xfrm>
            <a:off x="3694176" y="3383280"/>
            <a:ext cx="2386584" cy="39319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48" name="Shape 46"/>
          <p:cNvSpPr/>
          <p:nvPr/>
        </p:nvSpPr>
        <p:spPr>
          <a:xfrm>
            <a:off x="3694176" y="4480560"/>
            <a:ext cx="2386584" cy="149047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49" name="Shape 47"/>
          <p:cNvSpPr/>
          <p:nvPr/>
        </p:nvSpPr>
        <p:spPr>
          <a:xfrm>
            <a:off x="5212080" y="1097280"/>
            <a:ext cx="868680" cy="1892808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0" name="Shape 48"/>
          <p:cNvSpPr/>
          <p:nvPr/>
        </p:nvSpPr>
        <p:spPr>
          <a:xfrm>
            <a:off x="5212080" y="2103120"/>
            <a:ext cx="868680" cy="886968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1" name="Shape 49"/>
          <p:cNvSpPr/>
          <p:nvPr/>
        </p:nvSpPr>
        <p:spPr>
          <a:xfrm>
            <a:off x="5212080" y="3108960"/>
            <a:ext cx="868680" cy="11887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2" name="Shape 50"/>
          <p:cNvSpPr/>
          <p:nvPr/>
        </p:nvSpPr>
        <p:spPr>
          <a:xfrm>
            <a:off x="5212080" y="4114800"/>
            <a:ext cx="868680" cy="112471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3" name="Shape 51"/>
          <p:cNvSpPr/>
          <p:nvPr/>
        </p:nvSpPr>
        <p:spPr>
          <a:xfrm>
            <a:off x="5212080" y="5120640"/>
            <a:ext cx="868680" cy="213055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4" name="Shape 52"/>
          <p:cNvSpPr/>
          <p:nvPr/>
        </p:nvSpPr>
        <p:spPr>
          <a:xfrm>
            <a:off x="6080760" y="5212080"/>
            <a:ext cx="1188720" cy="222199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5" name="Shape 53"/>
          <p:cNvSpPr/>
          <p:nvPr/>
        </p:nvSpPr>
        <p:spPr>
          <a:xfrm>
            <a:off x="6080760" y="1371600"/>
            <a:ext cx="2194560" cy="1618488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>
            <a:off x="6080760" y="1371600"/>
            <a:ext cx="3703320" cy="1618488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7" name="Shape 55"/>
          <p:cNvSpPr/>
          <p:nvPr/>
        </p:nvSpPr>
        <p:spPr>
          <a:xfrm>
            <a:off x="6080760" y="5212080"/>
            <a:ext cx="3703320" cy="2221992"/>
          </a:xfrm>
          <a:prstGeom prst="line">
            <a:avLst/>
          </a:prstGeom>
          <a:noFill/>
          <a:ln w="12700">
            <a:solidFill>
              <a:srgbClr val="D0D8E4"/>
            </a:solidFill>
            <a:prstDash val="sysDash"/>
          </a:ln>
        </p:spPr>
      </p:sp>
      <p:sp>
        <p:nvSpPr>
          <p:cNvPr id="58" name="Shape 56"/>
          <p:cNvSpPr/>
          <p:nvPr/>
        </p:nvSpPr>
        <p:spPr>
          <a:xfrm>
            <a:off x="320040" y="6309360"/>
            <a:ext cx="11521440" cy="320040"/>
          </a:xfrm>
          <a:prstGeom prst="rect">
            <a:avLst/>
          </a:prstGeom>
          <a:solidFill>
            <a:srgbClr val="E8EE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33679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Todas las tablas tienen RLS habilitado · Todas tienen created_at timestamptz · FKs con ON DELETE RESTRICT para preservar integridad referencial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B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Convenciones de la Base de Datos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11612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Claves primarias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1435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Siempre UUID generado con gen_random_uuid(). Nunca enteros autoincrementales para tablas de negocio.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48272" y="11612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Row Level Security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48272" y="1435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Habilitado en las 24 tablas sin excepción. Políticas definidas por rol de Supabase Auth JWT.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552" y="2441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Timestamps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2715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created_at TIMESTAMPTZ DEFAULT NOW() en todas las tablas. updated_at con trigger automático en tablas mutables.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48272" y="2441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Nomenclatura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48272" y="2715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snake_case para tablas y columnas. Sin prefijos de tabla. Enums en inglés lowercase con underscore.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7552" y="37216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Particionamiento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39959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gps_tracks particionada por mes (RANGE en recorded_at). Retención configurable por política de datos.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361188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48272" y="37216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IA — Claude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48272" y="39959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Resultados de análisis predictivo guardados en maintenance_predictions y fuel_anomalies con timestamp. Nunca se consulta la API en tiempo real desde queries SQL.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7552" y="50017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Supabase Realtime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7552" y="5276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Canal gps_tracks para WebSocket del mapa. Canal alerts para notificaciones push. Filtrado por vehicle_id o team_id.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4892040"/>
            <a:ext cx="5577840" cy="109728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48272" y="50017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48272" y="5276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C3F0"/>
                </a:solidFill>
              </a:rPr>
              <a:t>Bucket fleet-docs (privado). URLs firmadas máx. 1h. Estructura: /region/entity_id/doc_type/YYYYMMDD.ext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A8B5"/>
                </a:solidFill>
              </a:rPr>
              <a:t>Supabase PostgreSQL 15 · pgvector para embeddings IA · Edge Functions para crons · Realtime para WebSocket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FlotaOS — Estructuras de Base de Datos</dc:title>
  <dc:subject>PptxGenJS Presentation</dc:subject>
  <dc:creator>PptxGenJS</dc:creator>
  <cp:lastModifiedBy>PptxGenJS</cp:lastModifiedBy>
  <cp:revision>1</cp:revision>
  <dcterms:created xsi:type="dcterms:W3CDTF">2026-05-21T20:04:00Z</dcterms:created>
  <dcterms:modified xsi:type="dcterms:W3CDTF">2026-05-21T20:04:00Z</dcterms:modified>
</cp:coreProperties>
</file>